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Bold" charset="1" panose="00000800000000000000"/>
      <p:regular r:id="rId18"/>
    </p:embeddedFont>
    <p:embeddedFont>
      <p:font typeface="Poppins" charset="1" panose="00000500000000000000"/>
      <p:regular r:id="rId19"/>
    </p:embeddedFont>
    <p:embeddedFont>
      <p:font typeface="Poppins Semi-Bold" charset="1" panose="00000700000000000000"/>
      <p:regular r:id="rId20"/>
    </p:embeddedFont>
    <p:embeddedFont>
      <p:font typeface="Poppins Ultra-Bold" charset="1" panose="000009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452419" y="2417352"/>
            <a:ext cx="15383162" cy="2381444"/>
          </a:xfrm>
          <a:prstGeom prst="rect">
            <a:avLst/>
          </a:prstGeom>
        </p:spPr>
        <p:txBody>
          <a:bodyPr anchor="t" rtlCol="false" tIns="0" lIns="0" bIns="0" rIns="0">
            <a:spAutoFit/>
          </a:bodyPr>
          <a:lstStyle/>
          <a:p>
            <a:pPr algn="ctr">
              <a:lnSpc>
                <a:spcPts val="9106"/>
              </a:lnSpc>
            </a:pPr>
            <a:r>
              <a:rPr lang="en-US" b="true" sz="7652" spc="-267">
                <a:solidFill>
                  <a:srgbClr val="FFFFFF"/>
                </a:solidFill>
                <a:latin typeface="Poppins Bold"/>
                <a:ea typeface="Poppins Bold"/>
                <a:cs typeface="Poppins Bold"/>
                <a:sym typeface="Poppins Bold"/>
              </a:rPr>
              <a:t>DEVELOPMENT OF A MCU-BASED ANALOG SENSING DEVICE</a:t>
            </a:r>
          </a:p>
        </p:txBody>
      </p:sp>
      <p:sp>
        <p:nvSpPr>
          <p:cNvPr name="Freeform 3" id="3"/>
          <p:cNvSpPr/>
          <p:nvPr/>
        </p:nvSpPr>
        <p:spPr>
          <a:xfrm flipH="false" flipV="false" rot="0">
            <a:off x="1028700" y="1110083"/>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4882089" y="1306545"/>
            <a:ext cx="11176334" cy="15987"/>
          </a:xfrm>
          <a:prstGeom prst="line">
            <a:avLst/>
          </a:prstGeom>
          <a:ln cap="flat" w="38100">
            <a:solidFill>
              <a:srgbClr val="FFFFFF"/>
            </a:solidFill>
            <a:prstDash val="solid"/>
            <a:headEnd type="none" len="sm" w="sm"/>
            <a:tailEnd type="none" len="sm" w="sm"/>
          </a:ln>
        </p:spPr>
      </p:sp>
      <p:grpSp>
        <p:nvGrpSpPr>
          <p:cNvPr name="Group 5" id="5"/>
          <p:cNvGrpSpPr/>
          <p:nvPr/>
        </p:nvGrpSpPr>
        <p:grpSpPr>
          <a:xfrm rot="0">
            <a:off x="-990796" y="9258300"/>
            <a:ext cx="19278796" cy="1987207"/>
            <a:chOff x="0" y="0"/>
            <a:chExt cx="5077543" cy="523380"/>
          </a:xfrm>
        </p:grpSpPr>
        <p:sp>
          <p:nvSpPr>
            <p:cNvPr name="Freeform 6" id="6"/>
            <p:cNvSpPr/>
            <p:nvPr/>
          </p:nvSpPr>
          <p:spPr>
            <a:xfrm flipH="false" flipV="false" rot="0">
              <a:off x="0" y="0"/>
              <a:ext cx="5077543" cy="523380"/>
            </a:xfrm>
            <a:custGeom>
              <a:avLst/>
              <a:gdLst/>
              <a:ahLst/>
              <a:cxnLst/>
              <a:rect r="r" b="b" t="t" l="l"/>
              <a:pathLst>
                <a:path h="523380" w="5077543">
                  <a:moveTo>
                    <a:pt x="40158" y="0"/>
                  </a:moveTo>
                  <a:lnTo>
                    <a:pt x="5037385" y="0"/>
                  </a:lnTo>
                  <a:cubicBezTo>
                    <a:pt x="5059564" y="0"/>
                    <a:pt x="5077543" y="17979"/>
                    <a:pt x="5077543" y="40158"/>
                  </a:cubicBezTo>
                  <a:lnTo>
                    <a:pt x="5077543" y="483222"/>
                  </a:lnTo>
                  <a:cubicBezTo>
                    <a:pt x="5077543" y="505400"/>
                    <a:pt x="5059564" y="523380"/>
                    <a:pt x="5037385" y="523380"/>
                  </a:cubicBezTo>
                  <a:lnTo>
                    <a:pt x="40158" y="523380"/>
                  </a:lnTo>
                  <a:cubicBezTo>
                    <a:pt x="17979" y="523380"/>
                    <a:pt x="0" y="505400"/>
                    <a:pt x="0" y="483222"/>
                  </a:cubicBezTo>
                  <a:lnTo>
                    <a:pt x="0" y="40158"/>
                  </a:lnTo>
                  <a:cubicBezTo>
                    <a:pt x="0" y="17979"/>
                    <a:pt x="17979" y="0"/>
                    <a:pt x="40158" y="0"/>
                  </a:cubicBezTo>
                  <a:close/>
                </a:path>
              </a:pathLst>
            </a:custGeom>
            <a:solidFill>
              <a:srgbClr val="FFFFFF"/>
            </a:solidFill>
            <a:ln w="38100" cap="rnd">
              <a:solidFill>
                <a:srgbClr val="1C0140"/>
              </a:solidFill>
              <a:prstDash val="solid"/>
              <a:round/>
            </a:ln>
          </p:spPr>
        </p:sp>
        <p:sp>
          <p:nvSpPr>
            <p:cNvPr name="TextBox 7" id="7"/>
            <p:cNvSpPr txBox="true"/>
            <p:nvPr/>
          </p:nvSpPr>
          <p:spPr>
            <a:xfrm>
              <a:off x="0" y="-57150"/>
              <a:ext cx="5077543" cy="580530"/>
            </a:xfrm>
            <a:prstGeom prst="rect">
              <a:avLst/>
            </a:prstGeom>
          </p:spPr>
          <p:txBody>
            <a:bodyPr anchor="ctr" rtlCol="false" tIns="50800" lIns="50800" bIns="50800" rIns="50800"/>
            <a:lstStyle/>
            <a:p>
              <a:pPr algn="ctr">
                <a:lnSpc>
                  <a:spcPts val="2867"/>
                </a:lnSpc>
              </a:pPr>
            </a:p>
          </p:txBody>
        </p:sp>
      </p:grpSp>
      <p:sp>
        <p:nvSpPr>
          <p:cNvPr name="Freeform 8" id="8"/>
          <p:cNvSpPr/>
          <p:nvPr/>
        </p:nvSpPr>
        <p:spPr>
          <a:xfrm flipH="false" flipV="false" rot="0">
            <a:off x="14974949" y="4449292"/>
            <a:ext cx="3721264" cy="1867398"/>
          </a:xfrm>
          <a:custGeom>
            <a:avLst/>
            <a:gdLst/>
            <a:ahLst/>
            <a:cxnLst/>
            <a:rect r="r" b="b" t="t" l="l"/>
            <a:pathLst>
              <a:path h="1867398" w="3721264">
                <a:moveTo>
                  <a:pt x="0" y="0"/>
                </a:moveTo>
                <a:lnTo>
                  <a:pt x="3721264" y="0"/>
                </a:lnTo>
                <a:lnTo>
                  <a:pt x="3721264" y="1867398"/>
                </a:lnTo>
                <a:lnTo>
                  <a:pt x="0" y="1867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51282" y="6167431"/>
            <a:ext cx="6051521" cy="3828962"/>
          </a:xfrm>
          <a:custGeom>
            <a:avLst/>
            <a:gdLst/>
            <a:ahLst/>
            <a:cxnLst/>
            <a:rect r="r" b="b" t="t" l="l"/>
            <a:pathLst>
              <a:path h="3828962" w="6051521">
                <a:moveTo>
                  <a:pt x="0" y="0"/>
                </a:moveTo>
                <a:lnTo>
                  <a:pt x="6051520" y="0"/>
                </a:lnTo>
                <a:lnTo>
                  <a:pt x="6051520" y="3828962"/>
                </a:lnTo>
                <a:lnTo>
                  <a:pt x="0" y="38289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943534" y="6928237"/>
            <a:ext cx="10400931" cy="1202323"/>
          </a:xfrm>
          <a:prstGeom prst="rect">
            <a:avLst/>
          </a:prstGeom>
        </p:spPr>
        <p:txBody>
          <a:bodyPr anchor="t" rtlCol="false" tIns="0" lIns="0" bIns="0" rIns="0">
            <a:spAutoFit/>
          </a:bodyPr>
          <a:lstStyle/>
          <a:p>
            <a:pPr algn="ctr">
              <a:lnSpc>
                <a:spcPts val="3150"/>
              </a:lnSpc>
            </a:pPr>
            <a:r>
              <a:rPr lang="en-US" sz="2250" spc="837">
                <a:solidFill>
                  <a:srgbClr val="FFFFFF"/>
                </a:solidFill>
                <a:latin typeface="Poppins"/>
                <a:ea typeface="Poppins"/>
                <a:cs typeface="Poppins"/>
                <a:sym typeface="Poppins"/>
              </a:rPr>
              <a:t>AGASARO LAURA</a:t>
            </a:r>
          </a:p>
          <a:p>
            <a:pPr algn="ctr">
              <a:lnSpc>
                <a:spcPts val="3150"/>
              </a:lnSpc>
            </a:pPr>
            <a:r>
              <a:rPr lang="en-US" sz="2250" spc="837">
                <a:solidFill>
                  <a:srgbClr val="FFFFFF"/>
                </a:solidFill>
                <a:latin typeface="Poppins"/>
                <a:ea typeface="Poppins"/>
                <a:cs typeface="Poppins"/>
                <a:sym typeface="Poppins"/>
              </a:rPr>
              <a:t>ABAYO PACIFIQUE</a:t>
            </a:r>
          </a:p>
          <a:p>
            <a:pPr algn="ctr">
              <a:lnSpc>
                <a:spcPts val="3150"/>
              </a:lnSpc>
            </a:pPr>
            <a:r>
              <a:rPr lang="en-US" sz="2250" spc="837">
                <a:solidFill>
                  <a:srgbClr val="FFFFFF"/>
                </a:solidFill>
                <a:latin typeface="Poppins"/>
                <a:ea typeface="Poppins"/>
                <a:cs typeface="Poppins"/>
                <a:sym typeface="Poppins"/>
              </a:rPr>
              <a:t>KWIHANGANA JEAN MARC</a:t>
            </a:r>
          </a:p>
        </p:txBody>
      </p:sp>
      <p:sp>
        <p:nvSpPr>
          <p:cNvPr name="TextBox 11" id="11"/>
          <p:cNvSpPr txBox="true"/>
          <p:nvPr/>
        </p:nvSpPr>
        <p:spPr>
          <a:xfrm rot="0">
            <a:off x="1642389" y="1076325"/>
            <a:ext cx="2943366"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12" id="12"/>
          <p:cNvSpPr txBox="true"/>
          <p:nvPr/>
        </p:nvSpPr>
        <p:spPr>
          <a:xfrm rot="0">
            <a:off x="16411862" y="1165957"/>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110083"/>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4756389" y="1306545"/>
            <a:ext cx="11302034" cy="15960"/>
          </a:xfrm>
          <a:prstGeom prst="line">
            <a:avLst/>
          </a:prstGeom>
          <a:ln cap="flat" w="38100">
            <a:solidFill>
              <a:srgbClr val="FFFFFF"/>
            </a:solidFill>
            <a:prstDash val="solid"/>
            <a:headEnd type="none" len="sm" w="sm"/>
            <a:tailEnd type="none" len="sm" w="sm"/>
          </a:ln>
        </p:spPr>
      </p:sp>
      <p:sp>
        <p:nvSpPr>
          <p:cNvPr name="TextBox 4" id="4"/>
          <p:cNvSpPr txBox="true"/>
          <p:nvPr/>
        </p:nvSpPr>
        <p:spPr>
          <a:xfrm rot="0">
            <a:off x="1836946" y="1076325"/>
            <a:ext cx="2976317"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5" id="5"/>
          <p:cNvSpPr txBox="true"/>
          <p:nvPr/>
        </p:nvSpPr>
        <p:spPr>
          <a:xfrm rot="0">
            <a:off x="16411862" y="1165957"/>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6" id="6"/>
          <p:cNvSpPr txBox="true"/>
          <p:nvPr/>
        </p:nvSpPr>
        <p:spPr>
          <a:xfrm rot="0">
            <a:off x="1335544" y="1892556"/>
            <a:ext cx="9115072" cy="1142557"/>
          </a:xfrm>
          <a:prstGeom prst="rect">
            <a:avLst/>
          </a:prstGeom>
        </p:spPr>
        <p:txBody>
          <a:bodyPr anchor="t" rtlCol="false" tIns="0" lIns="0" bIns="0" rIns="0">
            <a:spAutoFit/>
          </a:bodyPr>
          <a:lstStyle/>
          <a:p>
            <a:pPr algn="l">
              <a:lnSpc>
                <a:spcPts val="8509"/>
              </a:lnSpc>
            </a:pPr>
            <a:r>
              <a:rPr lang="en-US" sz="7151" spc="-250" b="true">
                <a:solidFill>
                  <a:srgbClr val="FFFFFF"/>
                </a:solidFill>
                <a:latin typeface="Poppins Ultra-Bold"/>
                <a:ea typeface="Poppins Ultra-Bold"/>
                <a:cs typeface="Poppins Ultra-Bold"/>
                <a:sym typeface="Poppins Ultra-Bold"/>
              </a:rPr>
              <a:t>PROJECT OBJECTIVE</a:t>
            </a:r>
          </a:p>
        </p:txBody>
      </p:sp>
      <p:sp>
        <p:nvSpPr>
          <p:cNvPr name="TextBox 7" id="7"/>
          <p:cNvSpPr txBox="true"/>
          <p:nvPr/>
        </p:nvSpPr>
        <p:spPr>
          <a:xfrm rot="0">
            <a:off x="1028700" y="3320863"/>
            <a:ext cx="13652468" cy="4423376"/>
          </a:xfrm>
          <a:prstGeom prst="rect">
            <a:avLst/>
          </a:prstGeom>
        </p:spPr>
        <p:txBody>
          <a:bodyPr anchor="t" rtlCol="false" tIns="0" lIns="0" bIns="0" rIns="0">
            <a:spAutoFit/>
          </a:bodyPr>
          <a:lstStyle/>
          <a:p>
            <a:pPr algn="l" marL="0" indent="0" lvl="0">
              <a:lnSpc>
                <a:spcPts val="5903"/>
              </a:lnSpc>
              <a:spcBef>
                <a:spcPct val="0"/>
              </a:spcBef>
            </a:pPr>
            <a:r>
              <a:rPr lang="en-US" sz="3472">
                <a:solidFill>
                  <a:srgbClr val="FFFFFF">
                    <a:alpha val="71765"/>
                  </a:srgbClr>
                </a:solidFill>
                <a:latin typeface="Poppins"/>
                <a:ea typeface="Poppins"/>
                <a:cs typeface="Poppins"/>
                <a:sym typeface="Poppins"/>
              </a:rPr>
              <a:t>D</a:t>
            </a:r>
            <a:r>
              <a:rPr lang="en-US" sz="3472" strike="noStrike" u="none">
                <a:solidFill>
                  <a:srgbClr val="FFFFFF">
                    <a:alpha val="71765"/>
                  </a:srgbClr>
                </a:solidFill>
                <a:latin typeface="Poppins"/>
                <a:ea typeface="Poppins"/>
                <a:cs typeface="Poppins"/>
                <a:sym typeface="Poppins"/>
              </a:rPr>
              <a:t>esign a</a:t>
            </a:r>
            <a:r>
              <a:rPr lang="en-US" sz="3472" strike="noStrike" u="none">
                <a:solidFill>
                  <a:srgbClr val="FFFFFF">
                    <a:alpha val="71765"/>
                  </a:srgbClr>
                </a:solidFill>
                <a:latin typeface="Poppins"/>
                <a:ea typeface="Poppins"/>
                <a:cs typeface="Poppins"/>
                <a:sym typeface="Poppins"/>
              </a:rPr>
              <a:t>nd implement a microcontroller (MCU)-based</a:t>
            </a:r>
            <a:r>
              <a:rPr lang="en-US" sz="3472" strike="noStrike" u="none">
                <a:solidFill>
                  <a:srgbClr val="FFFFFF">
                    <a:alpha val="71765"/>
                  </a:srgbClr>
                </a:solidFill>
                <a:latin typeface="Poppins"/>
                <a:ea typeface="Poppins"/>
                <a:cs typeface="Poppins"/>
                <a:sym typeface="Poppins"/>
              </a:rPr>
              <a:t> system </a:t>
            </a:r>
            <a:r>
              <a:rPr lang="en-US" sz="3472" strike="noStrike" u="none">
                <a:solidFill>
                  <a:srgbClr val="FFFFFF">
                    <a:alpha val="71765"/>
                  </a:srgbClr>
                </a:solidFill>
                <a:latin typeface="Poppins"/>
                <a:ea typeface="Poppins"/>
                <a:cs typeface="Poppins"/>
                <a:sym typeface="Poppins"/>
              </a:rPr>
              <a:t>capable </a:t>
            </a:r>
            <a:r>
              <a:rPr lang="en-US" sz="3472" strike="noStrike" u="none">
                <a:solidFill>
                  <a:srgbClr val="FFFFFF">
                    <a:alpha val="71765"/>
                  </a:srgbClr>
                </a:solidFill>
                <a:latin typeface="Poppins"/>
                <a:ea typeface="Poppins"/>
                <a:cs typeface="Poppins"/>
                <a:sym typeface="Poppins"/>
              </a:rPr>
              <a:t>o</a:t>
            </a:r>
            <a:r>
              <a:rPr lang="en-US" sz="3472" strike="noStrike" u="none">
                <a:solidFill>
                  <a:srgbClr val="FFFFFF">
                    <a:alpha val="71765"/>
                  </a:srgbClr>
                </a:solidFill>
                <a:latin typeface="Poppins"/>
                <a:ea typeface="Poppins"/>
                <a:cs typeface="Poppins"/>
                <a:sym typeface="Poppins"/>
              </a:rPr>
              <a:t>f</a:t>
            </a:r>
            <a:r>
              <a:rPr lang="en-US" sz="3472" strike="noStrike" u="none">
                <a:solidFill>
                  <a:srgbClr val="FFFFFF">
                    <a:alpha val="71765"/>
                  </a:srgbClr>
                </a:solidFill>
                <a:latin typeface="Poppins"/>
                <a:ea typeface="Poppins"/>
                <a:cs typeface="Poppins"/>
                <a:sym typeface="Poppins"/>
              </a:rPr>
              <a:t> acquiring multiple analog sensor inputs, display</a:t>
            </a:r>
            <a:r>
              <a:rPr lang="en-US" sz="3472" strike="noStrike" u="none">
                <a:solidFill>
                  <a:srgbClr val="FFFFFF">
                    <a:alpha val="71765"/>
                  </a:srgbClr>
                </a:solidFill>
                <a:latin typeface="Poppins"/>
                <a:ea typeface="Poppins"/>
                <a:cs typeface="Poppins"/>
                <a:sym typeface="Poppins"/>
              </a:rPr>
              <a:t>ing</a:t>
            </a:r>
            <a:r>
              <a:rPr lang="en-US" sz="3472" strike="noStrike" u="none">
                <a:solidFill>
                  <a:srgbClr val="FFFFFF">
                    <a:alpha val="71765"/>
                  </a:srgbClr>
                </a:solidFill>
                <a:latin typeface="Poppins"/>
                <a:ea typeface="Poppins"/>
                <a:cs typeface="Poppins"/>
                <a:sym typeface="Poppins"/>
              </a:rPr>
              <a:t> readings on an external L</a:t>
            </a:r>
            <a:r>
              <a:rPr lang="en-US" sz="3472" strike="noStrike" u="none">
                <a:solidFill>
                  <a:srgbClr val="FFFFFF">
                    <a:alpha val="71765"/>
                  </a:srgbClr>
                </a:solidFill>
                <a:latin typeface="Poppins"/>
                <a:ea typeface="Poppins"/>
                <a:cs typeface="Poppins"/>
                <a:sym typeface="Poppins"/>
              </a:rPr>
              <a:t>iquid </a:t>
            </a:r>
            <a:r>
              <a:rPr lang="en-US" sz="3472" strike="noStrike" u="none">
                <a:solidFill>
                  <a:srgbClr val="FFFFFF">
                    <a:alpha val="71765"/>
                  </a:srgbClr>
                </a:solidFill>
                <a:latin typeface="Poppins"/>
                <a:ea typeface="Poppins"/>
                <a:cs typeface="Poppins"/>
                <a:sym typeface="Poppins"/>
              </a:rPr>
              <a:t>C</a:t>
            </a:r>
            <a:r>
              <a:rPr lang="en-US" sz="3472" strike="noStrike" u="none">
                <a:solidFill>
                  <a:srgbClr val="FFFFFF">
                    <a:alpha val="71765"/>
                  </a:srgbClr>
                </a:solidFill>
                <a:latin typeface="Poppins"/>
                <a:ea typeface="Poppins"/>
                <a:cs typeface="Poppins"/>
                <a:sym typeface="Poppins"/>
              </a:rPr>
              <a:t>rystal </a:t>
            </a:r>
            <a:r>
              <a:rPr lang="en-US" sz="3472" strike="noStrike" u="none">
                <a:solidFill>
                  <a:srgbClr val="FFFFFF">
                    <a:alpha val="71765"/>
                  </a:srgbClr>
                </a:solidFill>
                <a:latin typeface="Poppins"/>
                <a:ea typeface="Poppins"/>
                <a:cs typeface="Poppins"/>
                <a:sym typeface="Poppins"/>
              </a:rPr>
              <a:t>Display (LCD), and transmitting data via a communication port. The system must also utilize external indicator</a:t>
            </a:r>
            <a:r>
              <a:rPr lang="en-US" sz="3472" strike="noStrike" u="none">
                <a:solidFill>
                  <a:srgbClr val="FFFFFF">
                    <a:alpha val="71765"/>
                  </a:srgbClr>
                </a:solidFill>
                <a:latin typeface="Poppins"/>
                <a:ea typeface="Poppins"/>
                <a:cs typeface="Poppins"/>
                <a:sym typeface="Poppins"/>
              </a:rPr>
              <a:t>s</a:t>
            </a:r>
            <a:r>
              <a:rPr lang="en-US" sz="3472" strike="noStrike" u="none">
                <a:solidFill>
                  <a:srgbClr val="FFFFFF">
                    <a:alpha val="71765"/>
                  </a:srgbClr>
                </a:solidFill>
                <a:latin typeface="Poppins"/>
                <a:ea typeface="Poppins"/>
                <a:cs typeface="Poppins"/>
                <a:sym typeface="Poppins"/>
              </a:rPr>
              <a:t> </a:t>
            </a:r>
            <a:r>
              <a:rPr lang="en-US" sz="3472" strike="noStrike" u="none">
                <a:solidFill>
                  <a:srgbClr val="FFFFFF">
                    <a:alpha val="71765"/>
                  </a:srgbClr>
                </a:solidFill>
                <a:latin typeface="Poppins"/>
                <a:ea typeface="Poppins"/>
                <a:cs typeface="Poppins"/>
                <a:sym typeface="Poppins"/>
              </a:rPr>
              <a:t>(</a:t>
            </a:r>
            <a:r>
              <a:rPr lang="en-US" sz="3472" strike="noStrike" u="none">
                <a:solidFill>
                  <a:srgbClr val="FFFFFF">
                    <a:alpha val="71765"/>
                  </a:srgbClr>
                </a:solidFill>
                <a:latin typeface="Poppins"/>
                <a:ea typeface="Poppins"/>
                <a:cs typeface="Poppins"/>
                <a:sym typeface="Poppins"/>
              </a:rPr>
              <a:t>LED</a:t>
            </a:r>
            <a:r>
              <a:rPr lang="en-US" sz="3472" strike="noStrike" u="none">
                <a:solidFill>
                  <a:srgbClr val="FFFFFF">
                    <a:alpha val="71765"/>
                  </a:srgbClr>
                </a:solidFill>
                <a:latin typeface="Poppins"/>
                <a:ea typeface="Poppins"/>
                <a:cs typeface="Poppins"/>
                <a:sym typeface="Poppins"/>
              </a:rPr>
              <a:t>s) for real-time feedback based on sensor values</a:t>
            </a:r>
            <a:r>
              <a:rPr lang="en-US" sz="3472" strike="noStrike" u="none">
                <a:solidFill>
                  <a:srgbClr val="FFFFFF">
                    <a:alpha val="71765"/>
                  </a:srgbClr>
                </a:solidFill>
                <a:latin typeface="Poppins"/>
                <a:ea typeface="Poppins"/>
                <a:cs typeface="Poppins"/>
                <a:sym typeface="Poppins"/>
              </a:rPr>
              <a:t>.</a:t>
            </a:r>
          </a:p>
        </p:txBody>
      </p:sp>
      <p:grpSp>
        <p:nvGrpSpPr>
          <p:cNvPr name="Group 8" id="8"/>
          <p:cNvGrpSpPr/>
          <p:nvPr/>
        </p:nvGrpSpPr>
        <p:grpSpPr>
          <a:xfrm rot="0">
            <a:off x="-990796" y="9258300"/>
            <a:ext cx="18250096" cy="1881172"/>
            <a:chOff x="0" y="0"/>
            <a:chExt cx="4806610" cy="495453"/>
          </a:xfrm>
        </p:grpSpPr>
        <p:sp>
          <p:nvSpPr>
            <p:cNvPr name="Freeform 9" id="9"/>
            <p:cNvSpPr/>
            <p:nvPr/>
          </p:nvSpPr>
          <p:spPr>
            <a:xfrm flipH="false" flipV="false" rot="0">
              <a:off x="0" y="0"/>
              <a:ext cx="4806610" cy="495453"/>
            </a:xfrm>
            <a:custGeom>
              <a:avLst/>
              <a:gdLst/>
              <a:ahLst/>
              <a:cxnLst/>
              <a:rect r="r" b="b" t="t" l="l"/>
              <a:pathLst>
                <a:path h="495453" w="4806610">
                  <a:moveTo>
                    <a:pt x="42421" y="0"/>
                  </a:moveTo>
                  <a:lnTo>
                    <a:pt x="4764189" y="0"/>
                  </a:lnTo>
                  <a:cubicBezTo>
                    <a:pt x="4775439" y="0"/>
                    <a:pt x="4786229" y="4469"/>
                    <a:pt x="4794185" y="12425"/>
                  </a:cubicBezTo>
                  <a:cubicBezTo>
                    <a:pt x="4802140" y="20380"/>
                    <a:pt x="4806610" y="31170"/>
                    <a:pt x="4806610" y="42421"/>
                  </a:cubicBezTo>
                  <a:lnTo>
                    <a:pt x="4806610" y="453031"/>
                  </a:lnTo>
                  <a:cubicBezTo>
                    <a:pt x="4806610" y="464282"/>
                    <a:pt x="4802140" y="475072"/>
                    <a:pt x="4794185" y="483028"/>
                  </a:cubicBezTo>
                  <a:cubicBezTo>
                    <a:pt x="4786229" y="490983"/>
                    <a:pt x="4775439" y="495453"/>
                    <a:pt x="4764189" y="495453"/>
                  </a:cubicBezTo>
                  <a:lnTo>
                    <a:pt x="42421" y="495453"/>
                  </a:lnTo>
                  <a:cubicBezTo>
                    <a:pt x="31170" y="495453"/>
                    <a:pt x="20380" y="490983"/>
                    <a:pt x="12425" y="483028"/>
                  </a:cubicBezTo>
                  <a:cubicBezTo>
                    <a:pt x="4469" y="475072"/>
                    <a:pt x="0" y="464282"/>
                    <a:pt x="0" y="453031"/>
                  </a:cubicBezTo>
                  <a:lnTo>
                    <a:pt x="0" y="42421"/>
                  </a:lnTo>
                  <a:cubicBezTo>
                    <a:pt x="0" y="31170"/>
                    <a:pt x="4469" y="20380"/>
                    <a:pt x="12425" y="12425"/>
                  </a:cubicBezTo>
                  <a:cubicBezTo>
                    <a:pt x="20380" y="4469"/>
                    <a:pt x="31170" y="0"/>
                    <a:pt x="42421" y="0"/>
                  </a:cubicBezTo>
                  <a:close/>
                </a:path>
              </a:pathLst>
            </a:custGeom>
            <a:solidFill>
              <a:srgbClr val="FFFFFF"/>
            </a:solidFill>
            <a:ln w="38100" cap="rnd">
              <a:solidFill>
                <a:srgbClr val="1C0140"/>
              </a:solidFill>
              <a:prstDash val="solid"/>
              <a:round/>
            </a:ln>
          </p:spPr>
        </p:sp>
        <p:sp>
          <p:nvSpPr>
            <p:cNvPr name="TextBox 10" id="10"/>
            <p:cNvSpPr txBox="true"/>
            <p:nvPr/>
          </p:nvSpPr>
          <p:spPr>
            <a:xfrm>
              <a:off x="0" y="-57150"/>
              <a:ext cx="4806610" cy="552603"/>
            </a:xfrm>
            <a:prstGeom prst="rect">
              <a:avLst/>
            </a:prstGeom>
          </p:spPr>
          <p:txBody>
            <a:bodyPr anchor="ctr" rtlCol="false" tIns="50800" lIns="50800" bIns="50800" rIns="50800"/>
            <a:lstStyle/>
            <a:p>
              <a:pPr algn="ctr">
                <a:lnSpc>
                  <a:spcPts val="2867"/>
                </a:lnSpc>
              </a:pPr>
            </a:p>
          </p:txBody>
        </p:sp>
      </p:grpSp>
      <p:sp>
        <p:nvSpPr>
          <p:cNvPr name="Freeform 11" id="11"/>
          <p:cNvSpPr/>
          <p:nvPr/>
        </p:nvSpPr>
        <p:spPr>
          <a:xfrm flipH="false" flipV="false" rot="0">
            <a:off x="15044030" y="4700081"/>
            <a:ext cx="6051521" cy="3828962"/>
          </a:xfrm>
          <a:custGeom>
            <a:avLst/>
            <a:gdLst/>
            <a:ahLst/>
            <a:cxnLst/>
            <a:rect r="r" b="b" t="t" l="l"/>
            <a:pathLst>
              <a:path h="3828962" w="6051521">
                <a:moveTo>
                  <a:pt x="0" y="0"/>
                </a:moveTo>
                <a:lnTo>
                  <a:pt x="6051521" y="0"/>
                </a:lnTo>
                <a:lnTo>
                  <a:pt x="6051521" y="3828963"/>
                </a:lnTo>
                <a:lnTo>
                  <a:pt x="0" y="38289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110083"/>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4756389" y="1306545"/>
            <a:ext cx="11302034" cy="15960"/>
          </a:xfrm>
          <a:prstGeom prst="line">
            <a:avLst/>
          </a:prstGeom>
          <a:ln cap="flat" w="38100">
            <a:solidFill>
              <a:srgbClr val="FFFFFF"/>
            </a:solidFill>
            <a:prstDash val="solid"/>
            <a:headEnd type="none" len="sm" w="sm"/>
            <a:tailEnd type="none" len="sm" w="sm"/>
          </a:ln>
        </p:spPr>
      </p:sp>
      <p:sp>
        <p:nvSpPr>
          <p:cNvPr name="TextBox 4" id="4"/>
          <p:cNvSpPr txBox="true"/>
          <p:nvPr/>
        </p:nvSpPr>
        <p:spPr>
          <a:xfrm rot="0">
            <a:off x="1836946" y="1076325"/>
            <a:ext cx="2976317"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5" id="5"/>
          <p:cNvSpPr txBox="true"/>
          <p:nvPr/>
        </p:nvSpPr>
        <p:spPr>
          <a:xfrm rot="0">
            <a:off x="16411862" y="1165957"/>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6" id="6"/>
          <p:cNvSpPr txBox="true"/>
          <p:nvPr/>
        </p:nvSpPr>
        <p:spPr>
          <a:xfrm rot="0">
            <a:off x="1642389" y="2287972"/>
            <a:ext cx="7307054" cy="1142557"/>
          </a:xfrm>
          <a:prstGeom prst="rect">
            <a:avLst/>
          </a:prstGeom>
        </p:spPr>
        <p:txBody>
          <a:bodyPr anchor="t" rtlCol="false" tIns="0" lIns="0" bIns="0" rIns="0">
            <a:spAutoFit/>
          </a:bodyPr>
          <a:lstStyle/>
          <a:p>
            <a:pPr algn="l">
              <a:lnSpc>
                <a:spcPts val="8509"/>
              </a:lnSpc>
            </a:pPr>
            <a:r>
              <a:rPr lang="en-US" sz="7151" spc="-250" b="true">
                <a:solidFill>
                  <a:srgbClr val="FFFFFF"/>
                </a:solidFill>
                <a:latin typeface="Poppins Ultra-Bold"/>
                <a:ea typeface="Poppins Ultra-Bold"/>
                <a:cs typeface="Poppins Ultra-Bold"/>
                <a:sym typeface="Poppins Ultra-Bold"/>
              </a:rPr>
              <a:t>CORE FEATURES</a:t>
            </a:r>
          </a:p>
        </p:txBody>
      </p:sp>
      <p:sp>
        <p:nvSpPr>
          <p:cNvPr name="TextBox 7" id="7"/>
          <p:cNvSpPr txBox="true"/>
          <p:nvPr/>
        </p:nvSpPr>
        <p:spPr>
          <a:xfrm rot="0">
            <a:off x="1028700" y="3709555"/>
            <a:ext cx="10935558" cy="4729313"/>
          </a:xfrm>
          <a:prstGeom prst="rect">
            <a:avLst/>
          </a:prstGeom>
        </p:spPr>
        <p:txBody>
          <a:bodyPr anchor="t" rtlCol="false" tIns="0" lIns="0" bIns="0" rIns="0">
            <a:spAutoFit/>
          </a:bodyPr>
          <a:lstStyle/>
          <a:p>
            <a:pPr algn="l" marL="792921" indent="-396460" lvl="1">
              <a:lnSpc>
                <a:spcPts val="6243"/>
              </a:lnSpc>
              <a:spcBef>
                <a:spcPct val="0"/>
              </a:spcBef>
              <a:buFont typeface="Arial"/>
              <a:buChar char="•"/>
            </a:pPr>
            <a:r>
              <a:rPr lang="en-US" sz="3672" strike="noStrike" u="none">
                <a:solidFill>
                  <a:srgbClr val="FFFFFF">
                    <a:alpha val="71765"/>
                  </a:srgbClr>
                </a:solidFill>
                <a:latin typeface="Poppins"/>
                <a:ea typeface="Poppins"/>
                <a:cs typeface="Poppins"/>
                <a:sym typeface="Poppins"/>
              </a:rPr>
              <a:t>3 Analog Sensors: LDR, Temperature, Magnetic (Hall-effect).</a:t>
            </a:r>
          </a:p>
          <a:p>
            <a:pPr algn="l" marL="792921" indent="-396460" lvl="1">
              <a:lnSpc>
                <a:spcPts val="6243"/>
              </a:lnSpc>
              <a:spcBef>
                <a:spcPct val="0"/>
              </a:spcBef>
              <a:buFont typeface="Arial"/>
              <a:buChar char="•"/>
            </a:pPr>
            <a:r>
              <a:rPr lang="en-US" sz="3672" strike="noStrike" u="none">
                <a:solidFill>
                  <a:srgbClr val="FFFFFF">
                    <a:alpha val="71765"/>
                  </a:srgbClr>
                </a:solidFill>
                <a:latin typeface="Poppins"/>
                <a:ea typeface="Poppins"/>
                <a:cs typeface="Poppins"/>
                <a:sym typeface="Poppins"/>
              </a:rPr>
              <a:t>16x2 LCD for real-time display.</a:t>
            </a:r>
          </a:p>
          <a:p>
            <a:pPr algn="l" marL="792921" indent="-396460" lvl="1">
              <a:lnSpc>
                <a:spcPts val="6243"/>
              </a:lnSpc>
              <a:spcBef>
                <a:spcPct val="0"/>
              </a:spcBef>
              <a:buFont typeface="Arial"/>
              <a:buChar char="•"/>
            </a:pPr>
            <a:r>
              <a:rPr lang="en-US" sz="3672" strike="noStrike" u="none">
                <a:solidFill>
                  <a:srgbClr val="FFFFFF">
                    <a:alpha val="71765"/>
                  </a:srgbClr>
                </a:solidFill>
                <a:latin typeface="Poppins"/>
                <a:ea typeface="Poppins"/>
                <a:cs typeface="Poppins"/>
                <a:sym typeface="Poppins"/>
              </a:rPr>
              <a:t>Visual indicators for thresholds and status</a:t>
            </a:r>
            <a:r>
              <a:rPr lang="en-US" sz="3672" strike="noStrike" u="none">
                <a:solidFill>
                  <a:srgbClr val="FFFFFF">
                    <a:alpha val="71765"/>
                  </a:srgbClr>
                </a:solidFill>
                <a:latin typeface="Poppins"/>
                <a:ea typeface="Poppins"/>
                <a:cs typeface="Poppins"/>
                <a:sym typeface="Poppins"/>
              </a:rPr>
              <a:t>.</a:t>
            </a:r>
          </a:p>
          <a:p>
            <a:pPr algn="l" marL="792921" indent="-396460" lvl="1">
              <a:lnSpc>
                <a:spcPts val="6243"/>
              </a:lnSpc>
              <a:spcBef>
                <a:spcPct val="0"/>
              </a:spcBef>
              <a:buFont typeface="Arial"/>
              <a:buChar char="•"/>
            </a:pPr>
            <a:r>
              <a:rPr lang="en-US" sz="3672" strike="noStrike" u="none">
                <a:solidFill>
                  <a:srgbClr val="FFFFFF">
                    <a:alpha val="71765"/>
                  </a:srgbClr>
                </a:solidFill>
                <a:latin typeface="Poppins"/>
                <a:ea typeface="Poppins"/>
                <a:cs typeface="Poppins"/>
                <a:sym typeface="Poppins"/>
              </a:rPr>
              <a:t>ATmega328P Microcrontroller</a:t>
            </a:r>
          </a:p>
          <a:p>
            <a:pPr algn="l" marL="0" indent="0" lvl="0">
              <a:lnSpc>
                <a:spcPts val="6243"/>
              </a:lnSpc>
              <a:spcBef>
                <a:spcPct val="0"/>
              </a:spcBef>
            </a:pPr>
          </a:p>
        </p:txBody>
      </p:sp>
      <p:grpSp>
        <p:nvGrpSpPr>
          <p:cNvPr name="Group 8" id="8"/>
          <p:cNvGrpSpPr/>
          <p:nvPr/>
        </p:nvGrpSpPr>
        <p:grpSpPr>
          <a:xfrm rot="0">
            <a:off x="-990796" y="9258300"/>
            <a:ext cx="18250096" cy="1881172"/>
            <a:chOff x="0" y="0"/>
            <a:chExt cx="4806610" cy="495453"/>
          </a:xfrm>
        </p:grpSpPr>
        <p:sp>
          <p:nvSpPr>
            <p:cNvPr name="Freeform 9" id="9"/>
            <p:cNvSpPr/>
            <p:nvPr/>
          </p:nvSpPr>
          <p:spPr>
            <a:xfrm flipH="false" flipV="false" rot="0">
              <a:off x="0" y="0"/>
              <a:ext cx="4806610" cy="495453"/>
            </a:xfrm>
            <a:custGeom>
              <a:avLst/>
              <a:gdLst/>
              <a:ahLst/>
              <a:cxnLst/>
              <a:rect r="r" b="b" t="t" l="l"/>
              <a:pathLst>
                <a:path h="495453" w="4806610">
                  <a:moveTo>
                    <a:pt x="42421" y="0"/>
                  </a:moveTo>
                  <a:lnTo>
                    <a:pt x="4764189" y="0"/>
                  </a:lnTo>
                  <a:cubicBezTo>
                    <a:pt x="4775439" y="0"/>
                    <a:pt x="4786229" y="4469"/>
                    <a:pt x="4794185" y="12425"/>
                  </a:cubicBezTo>
                  <a:cubicBezTo>
                    <a:pt x="4802140" y="20380"/>
                    <a:pt x="4806610" y="31170"/>
                    <a:pt x="4806610" y="42421"/>
                  </a:cubicBezTo>
                  <a:lnTo>
                    <a:pt x="4806610" y="453031"/>
                  </a:lnTo>
                  <a:cubicBezTo>
                    <a:pt x="4806610" y="464282"/>
                    <a:pt x="4802140" y="475072"/>
                    <a:pt x="4794185" y="483028"/>
                  </a:cubicBezTo>
                  <a:cubicBezTo>
                    <a:pt x="4786229" y="490983"/>
                    <a:pt x="4775439" y="495453"/>
                    <a:pt x="4764189" y="495453"/>
                  </a:cubicBezTo>
                  <a:lnTo>
                    <a:pt x="42421" y="495453"/>
                  </a:lnTo>
                  <a:cubicBezTo>
                    <a:pt x="31170" y="495453"/>
                    <a:pt x="20380" y="490983"/>
                    <a:pt x="12425" y="483028"/>
                  </a:cubicBezTo>
                  <a:cubicBezTo>
                    <a:pt x="4469" y="475072"/>
                    <a:pt x="0" y="464282"/>
                    <a:pt x="0" y="453031"/>
                  </a:cubicBezTo>
                  <a:lnTo>
                    <a:pt x="0" y="42421"/>
                  </a:lnTo>
                  <a:cubicBezTo>
                    <a:pt x="0" y="31170"/>
                    <a:pt x="4469" y="20380"/>
                    <a:pt x="12425" y="12425"/>
                  </a:cubicBezTo>
                  <a:cubicBezTo>
                    <a:pt x="20380" y="4469"/>
                    <a:pt x="31170" y="0"/>
                    <a:pt x="42421" y="0"/>
                  </a:cubicBezTo>
                  <a:close/>
                </a:path>
              </a:pathLst>
            </a:custGeom>
            <a:solidFill>
              <a:srgbClr val="FFFFFF"/>
            </a:solidFill>
            <a:ln w="38100" cap="rnd">
              <a:solidFill>
                <a:srgbClr val="1C0140"/>
              </a:solidFill>
              <a:prstDash val="solid"/>
              <a:round/>
            </a:ln>
          </p:spPr>
        </p:sp>
        <p:sp>
          <p:nvSpPr>
            <p:cNvPr name="TextBox 10" id="10"/>
            <p:cNvSpPr txBox="true"/>
            <p:nvPr/>
          </p:nvSpPr>
          <p:spPr>
            <a:xfrm>
              <a:off x="0" y="-57150"/>
              <a:ext cx="4806610" cy="552603"/>
            </a:xfrm>
            <a:prstGeom prst="rect">
              <a:avLst/>
            </a:prstGeom>
          </p:spPr>
          <p:txBody>
            <a:bodyPr anchor="ctr" rtlCol="false" tIns="50800" lIns="50800" bIns="50800" rIns="50800"/>
            <a:lstStyle/>
            <a:p>
              <a:pPr algn="ctr">
                <a:lnSpc>
                  <a:spcPts val="2867"/>
                </a:lnSpc>
              </a:pPr>
            </a:p>
          </p:txBody>
        </p:sp>
      </p:grpSp>
      <p:sp>
        <p:nvSpPr>
          <p:cNvPr name="Freeform 11" id="11"/>
          <p:cNvSpPr/>
          <p:nvPr/>
        </p:nvSpPr>
        <p:spPr>
          <a:xfrm flipH="false" flipV="false" rot="0">
            <a:off x="11964258" y="3755502"/>
            <a:ext cx="6051521" cy="3828962"/>
          </a:xfrm>
          <a:custGeom>
            <a:avLst/>
            <a:gdLst/>
            <a:ahLst/>
            <a:cxnLst/>
            <a:rect r="r" b="b" t="t" l="l"/>
            <a:pathLst>
              <a:path h="3828962" w="6051521">
                <a:moveTo>
                  <a:pt x="0" y="0"/>
                </a:moveTo>
                <a:lnTo>
                  <a:pt x="6051521" y="0"/>
                </a:lnTo>
                <a:lnTo>
                  <a:pt x="6051521" y="3828962"/>
                </a:lnTo>
                <a:lnTo>
                  <a:pt x="0" y="38289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110083"/>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4915016" y="1306545"/>
            <a:ext cx="11143407" cy="15960"/>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990796" y="9258300"/>
            <a:ext cx="18250096" cy="1881172"/>
            <a:chOff x="0" y="0"/>
            <a:chExt cx="4806610" cy="495453"/>
          </a:xfrm>
        </p:grpSpPr>
        <p:sp>
          <p:nvSpPr>
            <p:cNvPr name="Freeform 5" id="5"/>
            <p:cNvSpPr/>
            <p:nvPr/>
          </p:nvSpPr>
          <p:spPr>
            <a:xfrm flipH="false" flipV="false" rot="0">
              <a:off x="0" y="0"/>
              <a:ext cx="4806610" cy="495453"/>
            </a:xfrm>
            <a:custGeom>
              <a:avLst/>
              <a:gdLst/>
              <a:ahLst/>
              <a:cxnLst/>
              <a:rect r="r" b="b" t="t" l="l"/>
              <a:pathLst>
                <a:path h="495453" w="4806610">
                  <a:moveTo>
                    <a:pt x="42421" y="0"/>
                  </a:moveTo>
                  <a:lnTo>
                    <a:pt x="4764189" y="0"/>
                  </a:lnTo>
                  <a:cubicBezTo>
                    <a:pt x="4775439" y="0"/>
                    <a:pt x="4786229" y="4469"/>
                    <a:pt x="4794185" y="12425"/>
                  </a:cubicBezTo>
                  <a:cubicBezTo>
                    <a:pt x="4802140" y="20380"/>
                    <a:pt x="4806610" y="31170"/>
                    <a:pt x="4806610" y="42421"/>
                  </a:cubicBezTo>
                  <a:lnTo>
                    <a:pt x="4806610" y="453031"/>
                  </a:lnTo>
                  <a:cubicBezTo>
                    <a:pt x="4806610" y="464282"/>
                    <a:pt x="4802140" y="475072"/>
                    <a:pt x="4794185" y="483028"/>
                  </a:cubicBezTo>
                  <a:cubicBezTo>
                    <a:pt x="4786229" y="490983"/>
                    <a:pt x="4775439" y="495453"/>
                    <a:pt x="4764189" y="495453"/>
                  </a:cubicBezTo>
                  <a:lnTo>
                    <a:pt x="42421" y="495453"/>
                  </a:lnTo>
                  <a:cubicBezTo>
                    <a:pt x="31170" y="495453"/>
                    <a:pt x="20380" y="490983"/>
                    <a:pt x="12425" y="483028"/>
                  </a:cubicBezTo>
                  <a:cubicBezTo>
                    <a:pt x="4469" y="475072"/>
                    <a:pt x="0" y="464282"/>
                    <a:pt x="0" y="453031"/>
                  </a:cubicBezTo>
                  <a:lnTo>
                    <a:pt x="0" y="42421"/>
                  </a:lnTo>
                  <a:cubicBezTo>
                    <a:pt x="0" y="31170"/>
                    <a:pt x="4469" y="20380"/>
                    <a:pt x="12425" y="12425"/>
                  </a:cubicBezTo>
                  <a:cubicBezTo>
                    <a:pt x="20380" y="4469"/>
                    <a:pt x="31170" y="0"/>
                    <a:pt x="42421" y="0"/>
                  </a:cubicBezTo>
                  <a:close/>
                </a:path>
              </a:pathLst>
            </a:custGeom>
            <a:solidFill>
              <a:srgbClr val="FFFFFF"/>
            </a:solidFill>
            <a:ln w="38100" cap="rnd">
              <a:solidFill>
                <a:srgbClr val="1C0140"/>
              </a:solidFill>
              <a:prstDash val="solid"/>
              <a:round/>
            </a:ln>
          </p:spPr>
        </p:sp>
        <p:sp>
          <p:nvSpPr>
            <p:cNvPr name="TextBox 6" id="6"/>
            <p:cNvSpPr txBox="true"/>
            <p:nvPr/>
          </p:nvSpPr>
          <p:spPr>
            <a:xfrm>
              <a:off x="0" y="-57150"/>
              <a:ext cx="4806610" cy="552603"/>
            </a:xfrm>
            <a:prstGeom prst="rect">
              <a:avLst/>
            </a:prstGeom>
          </p:spPr>
          <p:txBody>
            <a:bodyPr anchor="ctr" rtlCol="false" tIns="50800" lIns="50800" bIns="50800" rIns="50800"/>
            <a:lstStyle/>
            <a:p>
              <a:pPr algn="ctr">
                <a:lnSpc>
                  <a:spcPts val="2867"/>
                </a:lnSpc>
              </a:pPr>
            </a:p>
          </p:txBody>
        </p:sp>
      </p:grpSp>
      <p:grpSp>
        <p:nvGrpSpPr>
          <p:cNvPr name="Group 7" id="7"/>
          <p:cNvGrpSpPr/>
          <p:nvPr/>
        </p:nvGrpSpPr>
        <p:grpSpPr>
          <a:xfrm rot="0">
            <a:off x="1028700" y="8004403"/>
            <a:ext cx="3086100" cy="85331"/>
            <a:chOff x="0" y="0"/>
            <a:chExt cx="812800" cy="22474"/>
          </a:xfrm>
        </p:grpSpPr>
        <p:sp>
          <p:nvSpPr>
            <p:cNvPr name="Freeform 8" id="8"/>
            <p:cNvSpPr/>
            <p:nvPr/>
          </p:nvSpPr>
          <p:spPr>
            <a:xfrm flipH="false" flipV="false" rot="0">
              <a:off x="0" y="0"/>
              <a:ext cx="812800" cy="22474"/>
            </a:xfrm>
            <a:custGeom>
              <a:avLst/>
              <a:gdLst/>
              <a:ahLst/>
              <a:cxnLst/>
              <a:rect r="r" b="b" t="t" l="l"/>
              <a:pathLst>
                <a:path h="22474" w="812800">
                  <a:moveTo>
                    <a:pt x="0" y="0"/>
                  </a:moveTo>
                  <a:lnTo>
                    <a:pt x="812800" y="0"/>
                  </a:lnTo>
                  <a:lnTo>
                    <a:pt x="812800" y="22474"/>
                  </a:lnTo>
                  <a:lnTo>
                    <a:pt x="0" y="22474"/>
                  </a:lnTo>
                  <a:close/>
                </a:path>
              </a:pathLst>
            </a:custGeom>
            <a:solidFill>
              <a:srgbClr val="FFFFFF"/>
            </a:solidFill>
          </p:spPr>
        </p:sp>
        <p:sp>
          <p:nvSpPr>
            <p:cNvPr name="TextBox 9" id="9"/>
            <p:cNvSpPr txBox="true"/>
            <p:nvPr/>
          </p:nvSpPr>
          <p:spPr>
            <a:xfrm>
              <a:off x="0" y="-57150"/>
              <a:ext cx="812800" cy="79624"/>
            </a:xfrm>
            <a:prstGeom prst="rect">
              <a:avLst/>
            </a:prstGeom>
          </p:spPr>
          <p:txBody>
            <a:bodyPr anchor="ctr" rtlCol="false" tIns="50800" lIns="50800" bIns="50800" rIns="50800"/>
            <a:lstStyle/>
            <a:p>
              <a:pPr algn="ctr">
                <a:lnSpc>
                  <a:spcPts val="2867"/>
                </a:lnSpc>
              </a:pPr>
            </a:p>
          </p:txBody>
        </p:sp>
      </p:grpSp>
      <p:sp>
        <p:nvSpPr>
          <p:cNvPr name="TextBox 10" id="10"/>
          <p:cNvSpPr txBox="true"/>
          <p:nvPr/>
        </p:nvSpPr>
        <p:spPr>
          <a:xfrm rot="0">
            <a:off x="1836946" y="1076325"/>
            <a:ext cx="2915844"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11" id="11"/>
          <p:cNvSpPr txBox="true"/>
          <p:nvPr/>
        </p:nvSpPr>
        <p:spPr>
          <a:xfrm rot="0">
            <a:off x="16411862" y="1165957"/>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12" id="12"/>
          <p:cNvSpPr txBox="true"/>
          <p:nvPr/>
        </p:nvSpPr>
        <p:spPr>
          <a:xfrm rot="0">
            <a:off x="3364001" y="1760727"/>
            <a:ext cx="11559999" cy="1142557"/>
          </a:xfrm>
          <a:prstGeom prst="rect">
            <a:avLst/>
          </a:prstGeom>
        </p:spPr>
        <p:txBody>
          <a:bodyPr anchor="t" rtlCol="false" tIns="0" lIns="0" bIns="0" rIns="0">
            <a:spAutoFit/>
          </a:bodyPr>
          <a:lstStyle/>
          <a:p>
            <a:pPr algn="ctr">
              <a:lnSpc>
                <a:spcPts val="8509"/>
              </a:lnSpc>
            </a:pPr>
            <a:r>
              <a:rPr lang="en-US" b="true" sz="7151" spc="-250">
                <a:solidFill>
                  <a:srgbClr val="FFFFFF"/>
                </a:solidFill>
                <a:latin typeface="Poppins Ultra-Bold"/>
                <a:ea typeface="Poppins Ultra-Bold"/>
                <a:cs typeface="Poppins Ultra-Bold"/>
                <a:sym typeface="Poppins Ultra-Bold"/>
              </a:rPr>
              <a:t>POWER MANAGEMENT</a:t>
            </a:r>
          </a:p>
        </p:txBody>
      </p:sp>
      <p:sp>
        <p:nvSpPr>
          <p:cNvPr name="TextBox 13" id="13"/>
          <p:cNvSpPr txBox="true"/>
          <p:nvPr/>
        </p:nvSpPr>
        <p:spPr>
          <a:xfrm rot="0">
            <a:off x="11650372" y="4590150"/>
            <a:ext cx="6547254" cy="2384426"/>
          </a:xfrm>
          <a:prstGeom prst="rect">
            <a:avLst/>
          </a:prstGeom>
        </p:spPr>
        <p:txBody>
          <a:bodyPr anchor="t" rtlCol="false" tIns="0" lIns="0" bIns="0" rIns="0">
            <a:spAutoFit/>
          </a:bodyPr>
          <a:lstStyle/>
          <a:p>
            <a:pPr algn="l" marL="604516" indent="-302258" lvl="1">
              <a:lnSpc>
                <a:spcPts val="4759"/>
              </a:lnSpc>
              <a:buFont typeface="Arial"/>
              <a:buChar char="•"/>
            </a:pPr>
            <a:r>
              <a:rPr lang="en-US" sz="2799" strike="noStrike" u="none">
                <a:solidFill>
                  <a:srgbClr val="FFFFFF">
                    <a:alpha val="71765"/>
                  </a:srgbClr>
                </a:solidFill>
                <a:latin typeface="Poppins"/>
                <a:ea typeface="Poppins"/>
                <a:cs typeface="Poppins"/>
                <a:sym typeface="Poppins"/>
              </a:rPr>
              <a:t>LDOs maintain pr</a:t>
            </a:r>
            <a:r>
              <a:rPr lang="en-US" sz="2799" strike="noStrike" u="none">
                <a:solidFill>
                  <a:srgbClr val="FFFFFF">
                    <a:alpha val="71765"/>
                  </a:srgbClr>
                </a:solidFill>
                <a:latin typeface="Poppins"/>
                <a:ea typeface="Poppins"/>
                <a:cs typeface="Poppins"/>
                <a:sym typeface="Poppins"/>
              </a:rPr>
              <a:t>ecise</a:t>
            </a:r>
            <a:r>
              <a:rPr lang="en-US" sz="2799" strike="noStrike" u="none">
                <a:solidFill>
                  <a:srgbClr val="FFFFFF">
                    <a:alpha val="71765"/>
                  </a:srgbClr>
                </a:solidFill>
                <a:latin typeface="Poppins"/>
                <a:ea typeface="Poppins"/>
                <a:cs typeface="Poppins"/>
                <a:sym typeface="Poppins"/>
              </a:rPr>
              <a:t> voltage levels (3.3V) for sensitive components despite input variations.</a:t>
            </a:r>
          </a:p>
        </p:txBody>
      </p:sp>
      <p:sp>
        <p:nvSpPr>
          <p:cNvPr name="TextBox 14" id="14"/>
          <p:cNvSpPr txBox="true"/>
          <p:nvPr/>
        </p:nvSpPr>
        <p:spPr>
          <a:xfrm rot="0">
            <a:off x="12461453" y="3502681"/>
            <a:ext cx="4676343" cy="600754"/>
          </a:xfrm>
          <a:prstGeom prst="rect">
            <a:avLst/>
          </a:prstGeom>
        </p:spPr>
        <p:txBody>
          <a:bodyPr anchor="t" rtlCol="false" tIns="0" lIns="0" bIns="0" rIns="0">
            <a:spAutoFit/>
          </a:bodyPr>
          <a:lstStyle/>
          <a:p>
            <a:pPr algn="l">
              <a:lnSpc>
                <a:spcPts val="4687"/>
              </a:lnSpc>
            </a:pPr>
            <a:r>
              <a:rPr lang="en-US" sz="3348" spc="418">
                <a:solidFill>
                  <a:srgbClr val="FFFFFF"/>
                </a:solidFill>
                <a:latin typeface="Poppins"/>
                <a:ea typeface="Poppins"/>
                <a:cs typeface="Poppins"/>
                <a:sym typeface="Poppins"/>
              </a:rPr>
              <a:t>LDO</a:t>
            </a:r>
          </a:p>
        </p:txBody>
      </p:sp>
      <p:sp>
        <p:nvSpPr>
          <p:cNvPr name="TextBox 15" id="15"/>
          <p:cNvSpPr txBox="true"/>
          <p:nvPr/>
        </p:nvSpPr>
        <p:spPr>
          <a:xfrm rot="0">
            <a:off x="5383596" y="4521428"/>
            <a:ext cx="6087601" cy="3482975"/>
          </a:xfrm>
          <a:prstGeom prst="rect">
            <a:avLst/>
          </a:prstGeom>
        </p:spPr>
        <p:txBody>
          <a:bodyPr anchor="t" rtlCol="false" tIns="0" lIns="0" bIns="0" rIns="0">
            <a:spAutoFit/>
          </a:bodyPr>
          <a:lstStyle/>
          <a:p>
            <a:pPr algn="l" marL="582930" indent="-291465" lvl="1">
              <a:lnSpc>
                <a:spcPts val="4590"/>
              </a:lnSpc>
              <a:spcBef>
                <a:spcPct val="0"/>
              </a:spcBef>
              <a:buFont typeface="Arial"/>
              <a:buChar char="•"/>
            </a:pPr>
            <a:r>
              <a:rPr lang="en-US" sz="2700">
                <a:solidFill>
                  <a:srgbClr val="FFFFFF">
                    <a:alpha val="71765"/>
                  </a:srgbClr>
                </a:solidFill>
                <a:latin typeface="Poppins"/>
                <a:ea typeface="Poppins"/>
                <a:cs typeface="Poppins"/>
                <a:sym typeface="Poppins"/>
              </a:rPr>
              <a:t>ESD </a:t>
            </a:r>
            <a:r>
              <a:rPr lang="en-US" sz="2700" strike="noStrike" u="none">
                <a:solidFill>
                  <a:srgbClr val="FFFFFF">
                    <a:alpha val="71765"/>
                  </a:srgbClr>
                </a:solidFill>
                <a:latin typeface="Poppins"/>
                <a:ea typeface="Poppins"/>
                <a:cs typeface="Poppins"/>
                <a:sym typeface="Poppins"/>
              </a:rPr>
              <a:t>Protects el</a:t>
            </a:r>
            <a:r>
              <a:rPr lang="en-US" sz="2700" strike="noStrike" u="none">
                <a:solidFill>
                  <a:srgbClr val="FFFFFF">
                    <a:alpha val="71765"/>
                  </a:srgbClr>
                </a:solidFill>
                <a:latin typeface="Poppins"/>
                <a:ea typeface="Poppins"/>
                <a:cs typeface="Poppins"/>
                <a:sym typeface="Poppins"/>
              </a:rPr>
              <a:t>ectron</a:t>
            </a:r>
            <a:r>
              <a:rPr lang="en-US" sz="2700" strike="noStrike" u="none">
                <a:solidFill>
                  <a:srgbClr val="FFFFFF">
                    <a:alpha val="71765"/>
                  </a:srgbClr>
                </a:solidFill>
                <a:latin typeface="Poppins"/>
                <a:ea typeface="Poppins"/>
                <a:cs typeface="Poppins"/>
                <a:sym typeface="Poppins"/>
              </a:rPr>
              <a:t>ics from electrostat</a:t>
            </a:r>
            <a:r>
              <a:rPr lang="en-US" sz="2700" strike="noStrike" u="none">
                <a:solidFill>
                  <a:srgbClr val="FFFFFF">
                    <a:alpha val="71765"/>
                  </a:srgbClr>
                </a:solidFill>
                <a:latin typeface="Poppins"/>
                <a:ea typeface="Poppins"/>
                <a:cs typeface="Poppins"/>
                <a:sym typeface="Poppins"/>
              </a:rPr>
              <a:t>ic</a:t>
            </a:r>
            <a:r>
              <a:rPr lang="en-US" sz="2700" strike="noStrike" u="none">
                <a:solidFill>
                  <a:srgbClr val="FFFFFF">
                    <a:alpha val="71765"/>
                  </a:srgbClr>
                </a:solidFill>
                <a:latin typeface="Poppins"/>
                <a:ea typeface="Poppins"/>
                <a:cs typeface="Poppins"/>
                <a:sym typeface="Poppins"/>
              </a:rPr>
              <a:t> discharge by redirectin</a:t>
            </a:r>
            <a:r>
              <a:rPr lang="en-US" sz="2700" strike="noStrike" u="none">
                <a:solidFill>
                  <a:srgbClr val="FFFFFF">
                    <a:alpha val="71765"/>
                  </a:srgbClr>
                </a:solidFill>
                <a:latin typeface="Poppins"/>
                <a:ea typeface="Poppins"/>
                <a:cs typeface="Poppins"/>
                <a:sym typeface="Poppins"/>
              </a:rPr>
              <a:t>g high-vol</a:t>
            </a:r>
            <a:r>
              <a:rPr lang="en-US" sz="2700" strike="noStrike" u="none">
                <a:solidFill>
                  <a:srgbClr val="FFFFFF">
                    <a:alpha val="71765"/>
                  </a:srgbClr>
                </a:solidFill>
                <a:latin typeface="Poppins"/>
                <a:ea typeface="Poppins"/>
                <a:cs typeface="Poppins"/>
                <a:sym typeface="Poppins"/>
              </a:rPr>
              <a:t>tage spikes to ground.</a:t>
            </a:r>
          </a:p>
          <a:p>
            <a:pPr algn="l" marL="582930" indent="-291465" lvl="1">
              <a:lnSpc>
                <a:spcPts val="4590"/>
              </a:lnSpc>
              <a:spcBef>
                <a:spcPct val="0"/>
              </a:spcBef>
              <a:buFont typeface="Arial"/>
              <a:buChar char="•"/>
            </a:pPr>
            <a:r>
              <a:rPr lang="en-US" sz="2700" strike="noStrike" u="none">
                <a:solidFill>
                  <a:srgbClr val="FFFFFF">
                    <a:alpha val="71765"/>
                  </a:srgbClr>
                </a:solidFill>
                <a:latin typeface="Poppins"/>
                <a:ea typeface="Poppins"/>
                <a:cs typeface="Poppins"/>
                <a:sym typeface="Poppins"/>
              </a:rPr>
              <a:t>P</a:t>
            </a:r>
            <a:r>
              <a:rPr lang="en-US" sz="2700" strike="noStrike" u="none">
                <a:solidFill>
                  <a:srgbClr val="FFFFFF">
                    <a:alpha val="71765"/>
                  </a:srgbClr>
                </a:solidFill>
                <a:latin typeface="Poppins"/>
                <a:ea typeface="Poppins"/>
                <a:cs typeface="Poppins"/>
                <a:sym typeface="Poppins"/>
              </a:rPr>
              <a:t>i Filter Reduces electrical noise</a:t>
            </a:r>
          </a:p>
          <a:p>
            <a:pPr algn="l" marL="0" indent="0" lvl="0">
              <a:lnSpc>
                <a:spcPts val="4759"/>
              </a:lnSpc>
              <a:spcBef>
                <a:spcPct val="0"/>
              </a:spcBef>
            </a:pPr>
          </a:p>
        </p:txBody>
      </p:sp>
      <p:sp>
        <p:nvSpPr>
          <p:cNvPr name="TextBox 16" id="16"/>
          <p:cNvSpPr txBox="true"/>
          <p:nvPr/>
        </p:nvSpPr>
        <p:spPr>
          <a:xfrm rot="0">
            <a:off x="6277706" y="3460157"/>
            <a:ext cx="5193491" cy="600754"/>
          </a:xfrm>
          <a:prstGeom prst="rect">
            <a:avLst/>
          </a:prstGeom>
        </p:spPr>
        <p:txBody>
          <a:bodyPr anchor="t" rtlCol="false" tIns="0" lIns="0" bIns="0" rIns="0">
            <a:spAutoFit/>
          </a:bodyPr>
          <a:lstStyle/>
          <a:p>
            <a:pPr algn="l">
              <a:lnSpc>
                <a:spcPts val="4687"/>
              </a:lnSpc>
            </a:pPr>
            <a:r>
              <a:rPr lang="en-US" sz="3348" spc="418">
                <a:solidFill>
                  <a:srgbClr val="FFFFFF"/>
                </a:solidFill>
                <a:latin typeface="Poppins"/>
                <a:ea typeface="Poppins"/>
                <a:cs typeface="Poppins"/>
                <a:sym typeface="Poppins"/>
              </a:rPr>
              <a:t>ESD&amp;PI FILTER</a:t>
            </a:r>
          </a:p>
        </p:txBody>
      </p:sp>
      <p:sp>
        <p:nvSpPr>
          <p:cNvPr name="TextBox 17" id="17"/>
          <p:cNvSpPr txBox="true"/>
          <p:nvPr/>
        </p:nvSpPr>
        <p:spPr>
          <a:xfrm rot="0">
            <a:off x="681687" y="5137236"/>
            <a:ext cx="4520934" cy="1038225"/>
          </a:xfrm>
          <a:prstGeom prst="rect">
            <a:avLst/>
          </a:prstGeom>
        </p:spPr>
        <p:txBody>
          <a:bodyPr anchor="t" rtlCol="false" tIns="0" lIns="0" bIns="0" rIns="0">
            <a:spAutoFit/>
          </a:bodyPr>
          <a:lstStyle/>
          <a:p>
            <a:pPr algn="l" marL="604516" indent="-302258" lvl="1">
              <a:lnSpc>
                <a:spcPts val="4759"/>
              </a:lnSpc>
              <a:spcBef>
                <a:spcPct val="0"/>
              </a:spcBef>
              <a:buFont typeface="Arial"/>
              <a:buChar char="•"/>
            </a:pPr>
            <a:r>
              <a:rPr lang="en-US" sz="2799">
                <a:solidFill>
                  <a:srgbClr val="FFFFFF">
                    <a:alpha val="71765"/>
                  </a:srgbClr>
                </a:solidFill>
                <a:latin typeface="Poppins"/>
                <a:ea typeface="Poppins"/>
                <a:cs typeface="Poppins"/>
                <a:sym typeface="Poppins"/>
              </a:rPr>
              <a:t>Output Voltage: 5V</a:t>
            </a:r>
            <a:r>
              <a:rPr lang="en-US" sz="2799" strike="noStrike" u="none">
                <a:solidFill>
                  <a:srgbClr val="FFFFFF">
                    <a:alpha val="71765"/>
                  </a:srgbClr>
                </a:solidFill>
                <a:latin typeface="Poppins"/>
                <a:ea typeface="Poppins"/>
                <a:cs typeface="Poppins"/>
                <a:sym typeface="Poppins"/>
              </a:rPr>
              <a:t> </a:t>
            </a:r>
          </a:p>
          <a:p>
            <a:pPr algn="l" marL="0" indent="0" lvl="0">
              <a:lnSpc>
                <a:spcPts val="3400"/>
              </a:lnSpc>
              <a:spcBef>
                <a:spcPct val="0"/>
              </a:spcBef>
            </a:pPr>
          </a:p>
        </p:txBody>
      </p:sp>
      <p:sp>
        <p:nvSpPr>
          <p:cNvPr name="TextBox 18" id="18"/>
          <p:cNvSpPr txBox="true"/>
          <p:nvPr/>
        </p:nvSpPr>
        <p:spPr>
          <a:xfrm rot="0">
            <a:off x="1028700" y="3460157"/>
            <a:ext cx="4175798" cy="1191304"/>
          </a:xfrm>
          <a:prstGeom prst="rect">
            <a:avLst/>
          </a:prstGeom>
        </p:spPr>
        <p:txBody>
          <a:bodyPr anchor="t" rtlCol="false" tIns="0" lIns="0" bIns="0" rIns="0">
            <a:spAutoFit/>
          </a:bodyPr>
          <a:lstStyle/>
          <a:p>
            <a:pPr algn="l">
              <a:lnSpc>
                <a:spcPts val="4687"/>
              </a:lnSpc>
            </a:pPr>
            <a:r>
              <a:rPr lang="en-US" sz="3348" spc="418">
                <a:solidFill>
                  <a:srgbClr val="FFFFFF"/>
                </a:solidFill>
                <a:latin typeface="Poppins"/>
                <a:ea typeface="Poppins"/>
                <a:cs typeface="Poppins"/>
                <a:sym typeface="Poppins"/>
              </a:rPr>
              <a:t>USB POWER SUPPLLY</a:t>
            </a:r>
          </a:p>
        </p:txBody>
      </p:sp>
      <p:grpSp>
        <p:nvGrpSpPr>
          <p:cNvPr name="Group 19" id="19"/>
          <p:cNvGrpSpPr/>
          <p:nvPr/>
        </p:nvGrpSpPr>
        <p:grpSpPr>
          <a:xfrm rot="0">
            <a:off x="2764932" y="7993981"/>
            <a:ext cx="2439566" cy="95753"/>
            <a:chOff x="0" y="0"/>
            <a:chExt cx="642519" cy="25219"/>
          </a:xfrm>
        </p:grpSpPr>
        <p:sp>
          <p:nvSpPr>
            <p:cNvPr name="Freeform 20" id="20"/>
            <p:cNvSpPr/>
            <p:nvPr/>
          </p:nvSpPr>
          <p:spPr>
            <a:xfrm flipH="false" flipV="false" rot="0">
              <a:off x="0" y="0"/>
              <a:ext cx="642519" cy="25219"/>
            </a:xfrm>
            <a:custGeom>
              <a:avLst/>
              <a:gdLst/>
              <a:ahLst/>
              <a:cxnLst/>
              <a:rect r="r" b="b" t="t" l="l"/>
              <a:pathLst>
                <a:path h="25219" w="642519">
                  <a:moveTo>
                    <a:pt x="0" y="0"/>
                  </a:moveTo>
                  <a:lnTo>
                    <a:pt x="642519" y="0"/>
                  </a:lnTo>
                  <a:lnTo>
                    <a:pt x="642519" y="25219"/>
                  </a:lnTo>
                  <a:lnTo>
                    <a:pt x="0" y="25219"/>
                  </a:lnTo>
                  <a:close/>
                </a:path>
              </a:pathLst>
            </a:custGeom>
            <a:solidFill>
              <a:srgbClr val="9FCDFF"/>
            </a:solidFill>
          </p:spPr>
        </p:sp>
        <p:sp>
          <p:nvSpPr>
            <p:cNvPr name="TextBox 21" id="21"/>
            <p:cNvSpPr txBox="true"/>
            <p:nvPr/>
          </p:nvSpPr>
          <p:spPr>
            <a:xfrm>
              <a:off x="0" y="-57150"/>
              <a:ext cx="642519" cy="82369"/>
            </a:xfrm>
            <a:prstGeom prst="rect">
              <a:avLst/>
            </a:prstGeom>
          </p:spPr>
          <p:txBody>
            <a:bodyPr anchor="ctr" rtlCol="false" tIns="50800" lIns="50800" bIns="50800" rIns="50800"/>
            <a:lstStyle/>
            <a:p>
              <a:pPr algn="ctr">
                <a:lnSpc>
                  <a:spcPts val="2867"/>
                </a:lnSpc>
              </a:pPr>
            </a:p>
          </p:txBody>
        </p:sp>
      </p:grpSp>
      <p:grpSp>
        <p:nvGrpSpPr>
          <p:cNvPr name="Group 22" id="22"/>
          <p:cNvGrpSpPr/>
          <p:nvPr/>
        </p:nvGrpSpPr>
        <p:grpSpPr>
          <a:xfrm rot="0">
            <a:off x="6547254" y="8004403"/>
            <a:ext cx="3086100" cy="85331"/>
            <a:chOff x="0" y="0"/>
            <a:chExt cx="812800" cy="22474"/>
          </a:xfrm>
        </p:grpSpPr>
        <p:sp>
          <p:nvSpPr>
            <p:cNvPr name="Freeform 23" id="23"/>
            <p:cNvSpPr/>
            <p:nvPr/>
          </p:nvSpPr>
          <p:spPr>
            <a:xfrm flipH="false" flipV="false" rot="0">
              <a:off x="0" y="0"/>
              <a:ext cx="812800" cy="22474"/>
            </a:xfrm>
            <a:custGeom>
              <a:avLst/>
              <a:gdLst/>
              <a:ahLst/>
              <a:cxnLst/>
              <a:rect r="r" b="b" t="t" l="l"/>
              <a:pathLst>
                <a:path h="22474" w="812800">
                  <a:moveTo>
                    <a:pt x="0" y="0"/>
                  </a:moveTo>
                  <a:lnTo>
                    <a:pt x="812800" y="0"/>
                  </a:lnTo>
                  <a:lnTo>
                    <a:pt x="812800" y="22474"/>
                  </a:lnTo>
                  <a:lnTo>
                    <a:pt x="0" y="22474"/>
                  </a:lnTo>
                  <a:close/>
                </a:path>
              </a:pathLst>
            </a:custGeom>
            <a:solidFill>
              <a:srgbClr val="FFFFFF"/>
            </a:solidFill>
          </p:spPr>
        </p:sp>
        <p:sp>
          <p:nvSpPr>
            <p:cNvPr name="TextBox 24" id="24"/>
            <p:cNvSpPr txBox="true"/>
            <p:nvPr/>
          </p:nvSpPr>
          <p:spPr>
            <a:xfrm>
              <a:off x="0" y="-57150"/>
              <a:ext cx="812800" cy="79624"/>
            </a:xfrm>
            <a:prstGeom prst="rect">
              <a:avLst/>
            </a:prstGeom>
          </p:spPr>
          <p:txBody>
            <a:bodyPr anchor="ctr" rtlCol="false" tIns="50800" lIns="50800" bIns="50800" rIns="50800"/>
            <a:lstStyle/>
            <a:p>
              <a:pPr algn="ctr">
                <a:lnSpc>
                  <a:spcPts val="2867"/>
                </a:lnSpc>
              </a:pPr>
            </a:p>
          </p:txBody>
        </p:sp>
      </p:grpSp>
      <p:grpSp>
        <p:nvGrpSpPr>
          <p:cNvPr name="Group 25" id="25"/>
          <p:cNvGrpSpPr/>
          <p:nvPr/>
        </p:nvGrpSpPr>
        <p:grpSpPr>
          <a:xfrm rot="0">
            <a:off x="8283486" y="7993981"/>
            <a:ext cx="2439566" cy="95753"/>
            <a:chOff x="0" y="0"/>
            <a:chExt cx="642519" cy="25219"/>
          </a:xfrm>
        </p:grpSpPr>
        <p:sp>
          <p:nvSpPr>
            <p:cNvPr name="Freeform 26" id="26"/>
            <p:cNvSpPr/>
            <p:nvPr/>
          </p:nvSpPr>
          <p:spPr>
            <a:xfrm flipH="false" flipV="false" rot="0">
              <a:off x="0" y="0"/>
              <a:ext cx="642519" cy="25219"/>
            </a:xfrm>
            <a:custGeom>
              <a:avLst/>
              <a:gdLst/>
              <a:ahLst/>
              <a:cxnLst/>
              <a:rect r="r" b="b" t="t" l="l"/>
              <a:pathLst>
                <a:path h="25219" w="642519">
                  <a:moveTo>
                    <a:pt x="0" y="0"/>
                  </a:moveTo>
                  <a:lnTo>
                    <a:pt x="642519" y="0"/>
                  </a:lnTo>
                  <a:lnTo>
                    <a:pt x="642519" y="25219"/>
                  </a:lnTo>
                  <a:lnTo>
                    <a:pt x="0" y="25219"/>
                  </a:lnTo>
                  <a:close/>
                </a:path>
              </a:pathLst>
            </a:custGeom>
            <a:solidFill>
              <a:srgbClr val="9FCDFF"/>
            </a:solidFill>
          </p:spPr>
        </p:sp>
        <p:sp>
          <p:nvSpPr>
            <p:cNvPr name="TextBox 27" id="27"/>
            <p:cNvSpPr txBox="true"/>
            <p:nvPr/>
          </p:nvSpPr>
          <p:spPr>
            <a:xfrm>
              <a:off x="0" y="-57150"/>
              <a:ext cx="642519" cy="82369"/>
            </a:xfrm>
            <a:prstGeom prst="rect">
              <a:avLst/>
            </a:prstGeom>
          </p:spPr>
          <p:txBody>
            <a:bodyPr anchor="ctr" rtlCol="false" tIns="50800" lIns="50800" bIns="50800" rIns="50800"/>
            <a:lstStyle/>
            <a:p>
              <a:pPr algn="ctr">
                <a:lnSpc>
                  <a:spcPts val="2867"/>
                </a:lnSpc>
              </a:pPr>
            </a:p>
          </p:txBody>
        </p:sp>
      </p:grpSp>
      <p:grpSp>
        <p:nvGrpSpPr>
          <p:cNvPr name="Group 28" id="28"/>
          <p:cNvGrpSpPr/>
          <p:nvPr/>
        </p:nvGrpSpPr>
        <p:grpSpPr>
          <a:xfrm rot="0">
            <a:off x="12461453" y="8004403"/>
            <a:ext cx="3086100" cy="85331"/>
            <a:chOff x="0" y="0"/>
            <a:chExt cx="812800" cy="22474"/>
          </a:xfrm>
        </p:grpSpPr>
        <p:sp>
          <p:nvSpPr>
            <p:cNvPr name="Freeform 29" id="29"/>
            <p:cNvSpPr/>
            <p:nvPr/>
          </p:nvSpPr>
          <p:spPr>
            <a:xfrm flipH="false" flipV="false" rot="0">
              <a:off x="0" y="0"/>
              <a:ext cx="812800" cy="22474"/>
            </a:xfrm>
            <a:custGeom>
              <a:avLst/>
              <a:gdLst/>
              <a:ahLst/>
              <a:cxnLst/>
              <a:rect r="r" b="b" t="t" l="l"/>
              <a:pathLst>
                <a:path h="22474" w="812800">
                  <a:moveTo>
                    <a:pt x="0" y="0"/>
                  </a:moveTo>
                  <a:lnTo>
                    <a:pt x="812800" y="0"/>
                  </a:lnTo>
                  <a:lnTo>
                    <a:pt x="812800" y="22474"/>
                  </a:lnTo>
                  <a:lnTo>
                    <a:pt x="0" y="22474"/>
                  </a:lnTo>
                  <a:close/>
                </a:path>
              </a:pathLst>
            </a:custGeom>
            <a:solidFill>
              <a:srgbClr val="FFFFFF"/>
            </a:solidFill>
          </p:spPr>
        </p:sp>
        <p:sp>
          <p:nvSpPr>
            <p:cNvPr name="TextBox 30" id="30"/>
            <p:cNvSpPr txBox="true"/>
            <p:nvPr/>
          </p:nvSpPr>
          <p:spPr>
            <a:xfrm>
              <a:off x="0" y="-57150"/>
              <a:ext cx="812800" cy="79624"/>
            </a:xfrm>
            <a:prstGeom prst="rect">
              <a:avLst/>
            </a:prstGeom>
          </p:spPr>
          <p:txBody>
            <a:bodyPr anchor="ctr" rtlCol="false" tIns="50800" lIns="50800" bIns="50800" rIns="50800"/>
            <a:lstStyle/>
            <a:p>
              <a:pPr algn="ctr">
                <a:lnSpc>
                  <a:spcPts val="2867"/>
                </a:lnSpc>
              </a:pPr>
            </a:p>
          </p:txBody>
        </p:sp>
      </p:grpSp>
      <p:grpSp>
        <p:nvGrpSpPr>
          <p:cNvPr name="Group 31" id="31"/>
          <p:cNvGrpSpPr/>
          <p:nvPr/>
        </p:nvGrpSpPr>
        <p:grpSpPr>
          <a:xfrm rot="0">
            <a:off x="14197685" y="7993981"/>
            <a:ext cx="2439566" cy="95753"/>
            <a:chOff x="0" y="0"/>
            <a:chExt cx="642519" cy="25219"/>
          </a:xfrm>
        </p:grpSpPr>
        <p:sp>
          <p:nvSpPr>
            <p:cNvPr name="Freeform 32" id="32"/>
            <p:cNvSpPr/>
            <p:nvPr/>
          </p:nvSpPr>
          <p:spPr>
            <a:xfrm flipH="false" flipV="false" rot="0">
              <a:off x="0" y="0"/>
              <a:ext cx="642519" cy="25219"/>
            </a:xfrm>
            <a:custGeom>
              <a:avLst/>
              <a:gdLst/>
              <a:ahLst/>
              <a:cxnLst/>
              <a:rect r="r" b="b" t="t" l="l"/>
              <a:pathLst>
                <a:path h="25219" w="642519">
                  <a:moveTo>
                    <a:pt x="0" y="0"/>
                  </a:moveTo>
                  <a:lnTo>
                    <a:pt x="642519" y="0"/>
                  </a:lnTo>
                  <a:lnTo>
                    <a:pt x="642519" y="25219"/>
                  </a:lnTo>
                  <a:lnTo>
                    <a:pt x="0" y="25219"/>
                  </a:lnTo>
                  <a:close/>
                </a:path>
              </a:pathLst>
            </a:custGeom>
            <a:solidFill>
              <a:srgbClr val="9FCDFF"/>
            </a:solidFill>
          </p:spPr>
        </p:sp>
        <p:sp>
          <p:nvSpPr>
            <p:cNvPr name="TextBox 33" id="33"/>
            <p:cNvSpPr txBox="true"/>
            <p:nvPr/>
          </p:nvSpPr>
          <p:spPr>
            <a:xfrm>
              <a:off x="0" y="-57150"/>
              <a:ext cx="642519" cy="82369"/>
            </a:xfrm>
            <a:prstGeom prst="rect">
              <a:avLst/>
            </a:prstGeom>
          </p:spPr>
          <p:txBody>
            <a:bodyPr anchor="ctr" rtlCol="false" tIns="50800" lIns="50800" bIns="50800" rIns="50800"/>
            <a:lstStyle/>
            <a:p>
              <a:pPr algn="ctr">
                <a:lnSpc>
                  <a:spcPts val="2867"/>
                </a:lnSpc>
              </a:pPr>
            </a:p>
          </p:txBody>
        </p:sp>
      </p:grpSp>
      <p:sp>
        <p:nvSpPr>
          <p:cNvPr name="Freeform 34" id="34"/>
          <p:cNvSpPr/>
          <p:nvPr/>
        </p:nvSpPr>
        <p:spPr>
          <a:xfrm flipH="false" flipV="false" rot="0">
            <a:off x="15398668" y="2389377"/>
            <a:ext cx="3721264" cy="1867398"/>
          </a:xfrm>
          <a:custGeom>
            <a:avLst/>
            <a:gdLst/>
            <a:ahLst/>
            <a:cxnLst/>
            <a:rect r="r" b="b" t="t" l="l"/>
            <a:pathLst>
              <a:path h="1867398" w="3721264">
                <a:moveTo>
                  <a:pt x="0" y="0"/>
                </a:moveTo>
                <a:lnTo>
                  <a:pt x="3721264" y="0"/>
                </a:lnTo>
                <a:lnTo>
                  <a:pt x="3721264" y="1867398"/>
                </a:lnTo>
                <a:lnTo>
                  <a:pt x="0" y="1867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110083"/>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4915016" y="1306545"/>
            <a:ext cx="11143407" cy="15960"/>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990796" y="9258300"/>
            <a:ext cx="18250096" cy="1881172"/>
            <a:chOff x="0" y="0"/>
            <a:chExt cx="4806610" cy="495453"/>
          </a:xfrm>
        </p:grpSpPr>
        <p:sp>
          <p:nvSpPr>
            <p:cNvPr name="Freeform 5" id="5"/>
            <p:cNvSpPr/>
            <p:nvPr/>
          </p:nvSpPr>
          <p:spPr>
            <a:xfrm flipH="false" flipV="false" rot="0">
              <a:off x="0" y="0"/>
              <a:ext cx="4806610" cy="495453"/>
            </a:xfrm>
            <a:custGeom>
              <a:avLst/>
              <a:gdLst/>
              <a:ahLst/>
              <a:cxnLst/>
              <a:rect r="r" b="b" t="t" l="l"/>
              <a:pathLst>
                <a:path h="495453" w="4806610">
                  <a:moveTo>
                    <a:pt x="42421" y="0"/>
                  </a:moveTo>
                  <a:lnTo>
                    <a:pt x="4764189" y="0"/>
                  </a:lnTo>
                  <a:cubicBezTo>
                    <a:pt x="4775439" y="0"/>
                    <a:pt x="4786229" y="4469"/>
                    <a:pt x="4794185" y="12425"/>
                  </a:cubicBezTo>
                  <a:cubicBezTo>
                    <a:pt x="4802140" y="20380"/>
                    <a:pt x="4806610" y="31170"/>
                    <a:pt x="4806610" y="42421"/>
                  </a:cubicBezTo>
                  <a:lnTo>
                    <a:pt x="4806610" y="453031"/>
                  </a:lnTo>
                  <a:cubicBezTo>
                    <a:pt x="4806610" y="464282"/>
                    <a:pt x="4802140" y="475072"/>
                    <a:pt x="4794185" y="483028"/>
                  </a:cubicBezTo>
                  <a:cubicBezTo>
                    <a:pt x="4786229" y="490983"/>
                    <a:pt x="4775439" y="495453"/>
                    <a:pt x="4764189" y="495453"/>
                  </a:cubicBezTo>
                  <a:lnTo>
                    <a:pt x="42421" y="495453"/>
                  </a:lnTo>
                  <a:cubicBezTo>
                    <a:pt x="31170" y="495453"/>
                    <a:pt x="20380" y="490983"/>
                    <a:pt x="12425" y="483028"/>
                  </a:cubicBezTo>
                  <a:cubicBezTo>
                    <a:pt x="4469" y="475072"/>
                    <a:pt x="0" y="464282"/>
                    <a:pt x="0" y="453031"/>
                  </a:cubicBezTo>
                  <a:lnTo>
                    <a:pt x="0" y="42421"/>
                  </a:lnTo>
                  <a:cubicBezTo>
                    <a:pt x="0" y="31170"/>
                    <a:pt x="4469" y="20380"/>
                    <a:pt x="12425" y="12425"/>
                  </a:cubicBezTo>
                  <a:cubicBezTo>
                    <a:pt x="20380" y="4469"/>
                    <a:pt x="31170" y="0"/>
                    <a:pt x="42421" y="0"/>
                  </a:cubicBezTo>
                  <a:close/>
                </a:path>
              </a:pathLst>
            </a:custGeom>
            <a:solidFill>
              <a:srgbClr val="FFFFFF"/>
            </a:solidFill>
            <a:ln w="38100" cap="rnd">
              <a:solidFill>
                <a:srgbClr val="1C0140"/>
              </a:solidFill>
              <a:prstDash val="solid"/>
              <a:round/>
            </a:ln>
          </p:spPr>
        </p:sp>
        <p:sp>
          <p:nvSpPr>
            <p:cNvPr name="TextBox 6" id="6"/>
            <p:cNvSpPr txBox="true"/>
            <p:nvPr/>
          </p:nvSpPr>
          <p:spPr>
            <a:xfrm>
              <a:off x="0" y="-57150"/>
              <a:ext cx="4806610" cy="552603"/>
            </a:xfrm>
            <a:prstGeom prst="rect">
              <a:avLst/>
            </a:prstGeom>
          </p:spPr>
          <p:txBody>
            <a:bodyPr anchor="ctr" rtlCol="false" tIns="50800" lIns="50800" bIns="50800" rIns="50800"/>
            <a:lstStyle/>
            <a:p>
              <a:pPr algn="ctr">
                <a:lnSpc>
                  <a:spcPts val="2867"/>
                </a:lnSpc>
              </a:pPr>
            </a:p>
          </p:txBody>
        </p:sp>
      </p:grpSp>
      <p:grpSp>
        <p:nvGrpSpPr>
          <p:cNvPr name="Group 7" id="7"/>
          <p:cNvGrpSpPr/>
          <p:nvPr/>
        </p:nvGrpSpPr>
        <p:grpSpPr>
          <a:xfrm rot="0">
            <a:off x="1028700" y="8004403"/>
            <a:ext cx="3086100" cy="85331"/>
            <a:chOff x="0" y="0"/>
            <a:chExt cx="812800" cy="22474"/>
          </a:xfrm>
        </p:grpSpPr>
        <p:sp>
          <p:nvSpPr>
            <p:cNvPr name="Freeform 8" id="8"/>
            <p:cNvSpPr/>
            <p:nvPr/>
          </p:nvSpPr>
          <p:spPr>
            <a:xfrm flipH="false" flipV="false" rot="0">
              <a:off x="0" y="0"/>
              <a:ext cx="812800" cy="22474"/>
            </a:xfrm>
            <a:custGeom>
              <a:avLst/>
              <a:gdLst/>
              <a:ahLst/>
              <a:cxnLst/>
              <a:rect r="r" b="b" t="t" l="l"/>
              <a:pathLst>
                <a:path h="22474" w="812800">
                  <a:moveTo>
                    <a:pt x="0" y="0"/>
                  </a:moveTo>
                  <a:lnTo>
                    <a:pt x="812800" y="0"/>
                  </a:lnTo>
                  <a:lnTo>
                    <a:pt x="812800" y="22474"/>
                  </a:lnTo>
                  <a:lnTo>
                    <a:pt x="0" y="22474"/>
                  </a:lnTo>
                  <a:close/>
                </a:path>
              </a:pathLst>
            </a:custGeom>
            <a:solidFill>
              <a:srgbClr val="FFFFFF"/>
            </a:solidFill>
          </p:spPr>
        </p:sp>
        <p:sp>
          <p:nvSpPr>
            <p:cNvPr name="TextBox 9" id="9"/>
            <p:cNvSpPr txBox="true"/>
            <p:nvPr/>
          </p:nvSpPr>
          <p:spPr>
            <a:xfrm>
              <a:off x="0" y="-57150"/>
              <a:ext cx="812800" cy="79624"/>
            </a:xfrm>
            <a:prstGeom prst="rect">
              <a:avLst/>
            </a:prstGeom>
          </p:spPr>
          <p:txBody>
            <a:bodyPr anchor="ctr" rtlCol="false" tIns="50800" lIns="50800" bIns="50800" rIns="50800"/>
            <a:lstStyle/>
            <a:p>
              <a:pPr algn="ctr">
                <a:lnSpc>
                  <a:spcPts val="2867"/>
                </a:lnSpc>
              </a:pPr>
            </a:p>
          </p:txBody>
        </p:sp>
      </p:grpSp>
      <p:sp>
        <p:nvSpPr>
          <p:cNvPr name="TextBox 10" id="10"/>
          <p:cNvSpPr txBox="true"/>
          <p:nvPr/>
        </p:nvSpPr>
        <p:spPr>
          <a:xfrm rot="0">
            <a:off x="1836946" y="1076325"/>
            <a:ext cx="2915844"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11" id="11"/>
          <p:cNvSpPr txBox="true"/>
          <p:nvPr/>
        </p:nvSpPr>
        <p:spPr>
          <a:xfrm rot="0">
            <a:off x="16411862" y="1165957"/>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12" id="12"/>
          <p:cNvSpPr txBox="true"/>
          <p:nvPr/>
        </p:nvSpPr>
        <p:spPr>
          <a:xfrm rot="0">
            <a:off x="3239626" y="1694052"/>
            <a:ext cx="11559999" cy="1142557"/>
          </a:xfrm>
          <a:prstGeom prst="rect">
            <a:avLst/>
          </a:prstGeom>
        </p:spPr>
        <p:txBody>
          <a:bodyPr anchor="t" rtlCol="false" tIns="0" lIns="0" bIns="0" rIns="0">
            <a:spAutoFit/>
          </a:bodyPr>
          <a:lstStyle/>
          <a:p>
            <a:pPr algn="ctr">
              <a:lnSpc>
                <a:spcPts val="8509"/>
              </a:lnSpc>
            </a:pPr>
            <a:r>
              <a:rPr lang="en-US" b="true" sz="7151" spc="-250">
                <a:solidFill>
                  <a:srgbClr val="FFFFFF"/>
                </a:solidFill>
                <a:latin typeface="Poppins Ultra-Bold"/>
                <a:ea typeface="Poppins Ultra-Bold"/>
                <a:cs typeface="Poppins Ultra-Bold"/>
                <a:sym typeface="Poppins Ultra-Bold"/>
              </a:rPr>
              <a:t>SENSORS SPECIFICATIONS</a:t>
            </a:r>
          </a:p>
        </p:txBody>
      </p:sp>
      <p:sp>
        <p:nvSpPr>
          <p:cNvPr name="TextBox 13" id="13"/>
          <p:cNvSpPr txBox="true"/>
          <p:nvPr/>
        </p:nvSpPr>
        <p:spPr>
          <a:xfrm rot="0">
            <a:off x="11525997" y="4822658"/>
            <a:ext cx="6547254" cy="3267075"/>
          </a:xfrm>
          <a:prstGeom prst="rect">
            <a:avLst/>
          </a:prstGeom>
        </p:spPr>
        <p:txBody>
          <a:bodyPr anchor="t" rtlCol="false" tIns="0" lIns="0" bIns="0" rIns="0">
            <a:spAutoFit/>
          </a:bodyPr>
          <a:lstStyle/>
          <a:p>
            <a:pPr algn="l" marL="604516" indent="-302258" lvl="1">
              <a:lnSpc>
                <a:spcPts val="4759"/>
              </a:lnSpc>
              <a:spcBef>
                <a:spcPct val="0"/>
              </a:spcBef>
              <a:buFont typeface="Arial"/>
              <a:buChar char="•"/>
            </a:pPr>
            <a:r>
              <a:rPr lang="en-US" sz="2799" strike="noStrike" u="none">
                <a:solidFill>
                  <a:srgbClr val="FFFFFF">
                    <a:alpha val="71765"/>
                  </a:srgbClr>
                </a:solidFill>
                <a:latin typeface="Poppins"/>
                <a:ea typeface="Poppins"/>
                <a:cs typeface="Poppins"/>
                <a:sym typeface="Poppins"/>
              </a:rPr>
              <a:t>Linea</a:t>
            </a:r>
            <a:r>
              <a:rPr lang="en-US" sz="2799" strike="noStrike" u="none">
                <a:solidFill>
                  <a:srgbClr val="FFFFFF">
                    <a:alpha val="71765"/>
                  </a:srgbClr>
                </a:solidFill>
                <a:latin typeface="Poppins"/>
                <a:ea typeface="Poppins"/>
                <a:cs typeface="Poppins"/>
                <a:sym typeface="Poppins"/>
              </a:rPr>
              <a:t>r</a:t>
            </a:r>
            <a:r>
              <a:rPr lang="en-US" sz="2799" strike="noStrike" u="none">
                <a:solidFill>
                  <a:srgbClr val="FFFFFF">
                    <a:alpha val="71765"/>
                  </a:srgbClr>
                </a:solidFill>
                <a:latin typeface="Poppins"/>
                <a:ea typeface="Poppins"/>
                <a:cs typeface="Poppins"/>
                <a:sym typeface="Poppins"/>
              </a:rPr>
              <a:t> </a:t>
            </a:r>
            <a:r>
              <a:rPr lang="en-US" sz="2799" strike="noStrike" u="none">
                <a:solidFill>
                  <a:srgbClr val="FFFFFF">
                    <a:alpha val="71765"/>
                  </a:srgbClr>
                </a:solidFill>
                <a:latin typeface="Poppins"/>
                <a:ea typeface="Poppins"/>
                <a:cs typeface="Poppins"/>
                <a:sym typeface="Poppins"/>
              </a:rPr>
              <a:t>H</a:t>
            </a:r>
            <a:r>
              <a:rPr lang="en-US" sz="2799" strike="noStrike" u="none">
                <a:solidFill>
                  <a:srgbClr val="FFFFFF">
                    <a:alpha val="71765"/>
                  </a:srgbClr>
                </a:solidFill>
                <a:latin typeface="Poppins"/>
                <a:ea typeface="Poppins"/>
                <a:cs typeface="Poppins"/>
                <a:sym typeface="Poppins"/>
              </a:rPr>
              <a:t>all</a:t>
            </a:r>
            <a:r>
              <a:rPr lang="en-US" sz="2799" strike="noStrike" u="none">
                <a:solidFill>
                  <a:srgbClr val="FFFFFF">
                    <a:alpha val="71765"/>
                  </a:srgbClr>
                </a:solidFill>
                <a:latin typeface="Poppins"/>
                <a:ea typeface="Poppins"/>
                <a:cs typeface="Poppins"/>
                <a:sym typeface="Poppins"/>
              </a:rPr>
              <a:t>-</a:t>
            </a:r>
            <a:r>
              <a:rPr lang="en-US" sz="2799" strike="noStrike" u="none">
                <a:solidFill>
                  <a:srgbClr val="FFFFFF">
                    <a:alpha val="71765"/>
                  </a:srgbClr>
                </a:solidFill>
                <a:latin typeface="Poppins"/>
                <a:ea typeface="Poppins"/>
                <a:cs typeface="Poppins"/>
                <a:sym typeface="Poppins"/>
              </a:rPr>
              <a:t>effect IC.</a:t>
            </a:r>
          </a:p>
          <a:p>
            <a:pPr algn="l" marL="604516" indent="-302258" lvl="1">
              <a:lnSpc>
                <a:spcPts val="4759"/>
              </a:lnSpc>
              <a:spcBef>
                <a:spcPct val="0"/>
              </a:spcBef>
              <a:buFont typeface="Arial"/>
              <a:buChar char="•"/>
            </a:pPr>
            <a:r>
              <a:rPr lang="en-US" sz="2799" strike="noStrike" u="none">
                <a:solidFill>
                  <a:srgbClr val="FFFFFF">
                    <a:alpha val="71765"/>
                  </a:srgbClr>
                </a:solidFill>
                <a:latin typeface="Poppins"/>
                <a:ea typeface="Poppins"/>
                <a:cs typeface="Poppins"/>
                <a:sym typeface="Poppins"/>
              </a:rPr>
              <a:t>Supply: 2.7V–6.5V, 6mA current.</a:t>
            </a:r>
          </a:p>
          <a:p>
            <a:pPr algn="l" marL="604516" indent="-302258" lvl="1">
              <a:lnSpc>
                <a:spcPts val="4759"/>
              </a:lnSpc>
              <a:spcBef>
                <a:spcPct val="0"/>
              </a:spcBef>
              <a:buFont typeface="Arial"/>
              <a:buChar char="•"/>
            </a:pPr>
            <a:r>
              <a:rPr lang="en-US" sz="2799" strike="noStrike" u="none">
                <a:solidFill>
                  <a:srgbClr val="FFFFFF">
                    <a:alpha val="71765"/>
                  </a:srgbClr>
                </a:solidFill>
                <a:latin typeface="Poppins"/>
                <a:ea typeface="Poppins"/>
                <a:cs typeface="Poppins"/>
                <a:sym typeface="Poppins"/>
              </a:rPr>
              <a:t>Sensitivity: 1.4 mV/Gauss.</a:t>
            </a:r>
          </a:p>
          <a:p>
            <a:pPr algn="l" marL="604516" indent="-302258" lvl="1">
              <a:lnSpc>
                <a:spcPts val="4759"/>
              </a:lnSpc>
              <a:spcBef>
                <a:spcPct val="0"/>
              </a:spcBef>
              <a:buFont typeface="Arial"/>
              <a:buChar char="•"/>
            </a:pPr>
            <a:r>
              <a:rPr lang="en-US" sz="2799" strike="noStrike" u="none">
                <a:solidFill>
                  <a:srgbClr val="FFFFFF">
                    <a:alpha val="71765"/>
                  </a:srgbClr>
                </a:solidFill>
                <a:latin typeface="Poppins"/>
                <a:ea typeface="Poppins"/>
                <a:cs typeface="Poppins"/>
                <a:sym typeface="Poppins"/>
              </a:rPr>
              <a:t>Range: ±650 Gauss.</a:t>
            </a:r>
          </a:p>
          <a:p>
            <a:pPr algn="l">
              <a:lnSpc>
                <a:spcPts val="3400"/>
              </a:lnSpc>
              <a:spcBef>
                <a:spcPct val="0"/>
              </a:spcBef>
            </a:pPr>
          </a:p>
          <a:p>
            <a:pPr algn="l" marL="0" indent="0" lvl="0">
              <a:lnSpc>
                <a:spcPts val="3400"/>
              </a:lnSpc>
              <a:spcBef>
                <a:spcPct val="0"/>
              </a:spcBef>
            </a:pPr>
          </a:p>
        </p:txBody>
      </p:sp>
      <p:sp>
        <p:nvSpPr>
          <p:cNvPr name="TextBox 14" id="14"/>
          <p:cNvSpPr txBox="true"/>
          <p:nvPr/>
        </p:nvSpPr>
        <p:spPr>
          <a:xfrm rot="0">
            <a:off x="12159238" y="3457476"/>
            <a:ext cx="4676343" cy="1191304"/>
          </a:xfrm>
          <a:prstGeom prst="rect">
            <a:avLst/>
          </a:prstGeom>
        </p:spPr>
        <p:txBody>
          <a:bodyPr anchor="t" rtlCol="false" tIns="0" lIns="0" bIns="0" rIns="0">
            <a:spAutoFit/>
          </a:bodyPr>
          <a:lstStyle/>
          <a:p>
            <a:pPr algn="l">
              <a:lnSpc>
                <a:spcPts val="4687"/>
              </a:lnSpc>
            </a:pPr>
            <a:r>
              <a:rPr lang="en-US" sz="3348" spc="418">
                <a:solidFill>
                  <a:srgbClr val="FFFFFF"/>
                </a:solidFill>
                <a:latin typeface="Poppins"/>
                <a:ea typeface="Poppins"/>
                <a:cs typeface="Poppins"/>
                <a:sym typeface="Poppins"/>
              </a:rPr>
              <a:t>MAGNETIC SENSOR </a:t>
            </a:r>
          </a:p>
        </p:txBody>
      </p:sp>
      <p:sp>
        <p:nvSpPr>
          <p:cNvPr name="TextBox 15" id="15"/>
          <p:cNvSpPr txBox="true"/>
          <p:nvPr/>
        </p:nvSpPr>
        <p:spPr>
          <a:xfrm rot="0">
            <a:off x="5873785" y="4981575"/>
            <a:ext cx="4520934" cy="2984500"/>
          </a:xfrm>
          <a:prstGeom prst="rect">
            <a:avLst/>
          </a:prstGeom>
        </p:spPr>
        <p:txBody>
          <a:bodyPr anchor="t" rtlCol="false" tIns="0" lIns="0" bIns="0" rIns="0">
            <a:spAutoFit/>
          </a:bodyPr>
          <a:lstStyle/>
          <a:p>
            <a:pPr algn="l" marL="604519" indent="-302260" lvl="1">
              <a:lnSpc>
                <a:spcPts val="4759"/>
              </a:lnSpc>
              <a:spcBef>
                <a:spcPct val="0"/>
              </a:spcBef>
              <a:buFont typeface="Arial"/>
              <a:buChar char="•"/>
            </a:pPr>
            <a:r>
              <a:rPr lang="en-US" sz="2799">
                <a:solidFill>
                  <a:srgbClr val="FFFFFF">
                    <a:alpha val="71765"/>
                  </a:srgbClr>
                </a:solidFill>
                <a:latin typeface="Poppins"/>
                <a:ea typeface="Poppins"/>
                <a:cs typeface="Poppins"/>
                <a:sym typeface="Poppins"/>
              </a:rPr>
              <a:t>M</a:t>
            </a:r>
            <a:r>
              <a:rPr lang="en-US" sz="2799" strike="noStrike" u="none">
                <a:solidFill>
                  <a:srgbClr val="FFFFFF">
                    <a:alpha val="71765"/>
                  </a:srgbClr>
                </a:solidFill>
                <a:latin typeface="Poppins"/>
                <a:ea typeface="Poppins"/>
                <a:cs typeface="Poppins"/>
                <a:sym typeface="Poppins"/>
              </a:rPr>
              <a:t>e</a:t>
            </a:r>
            <a:r>
              <a:rPr lang="en-US" sz="2799" strike="noStrike" u="none">
                <a:solidFill>
                  <a:srgbClr val="FFFFFF">
                    <a:alpha val="71765"/>
                  </a:srgbClr>
                </a:solidFill>
                <a:latin typeface="Poppins"/>
                <a:ea typeface="Poppins"/>
                <a:cs typeface="Poppins"/>
                <a:sym typeface="Poppins"/>
              </a:rPr>
              <a:t>a</a:t>
            </a:r>
            <a:r>
              <a:rPr lang="en-US" sz="2799" strike="noStrike" u="none">
                <a:solidFill>
                  <a:srgbClr val="FFFFFF">
                    <a:alpha val="71765"/>
                  </a:srgbClr>
                </a:solidFill>
                <a:latin typeface="Poppins"/>
                <a:ea typeface="Poppins"/>
                <a:cs typeface="Poppins"/>
                <a:sym typeface="Poppins"/>
              </a:rPr>
              <a:t>sures </a:t>
            </a:r>
            <a:r>
              <a:rPr lang="en-US" sz="2799" strike="noStrike" u="none">
                <a:solidFill>
                  <a:srgbClr val="FFFFFF">
                    <a:alpha val="71765"/>
                  </a:srgbClr>
                </a:solidFill>
                <a:latin typeface="Poppins"/>
                <a:ea typeface="Poppins"/>
                <a:cs typeface="Poppins"/>
                <a:sym typeface="Poppins"/>
              </a:rPr>
              <a:t>l</a:t>
            </a:r>
            <a:r>
              <a:rPr lang="en-US" sz="2799" strike="noStrike" u="none">
                <a:solidFill>
                  <a:srgbClr val="FFFFFF">
                    <a:alpha val="71765"/>
                  </a:srgbClr>
                </a:solidFill>
                <a:latin typeface="Poppins"/>
                <a:ea typeface="Poppins"/>
                <a:cs typeface="Poppins"/>
                <a:sym typeface="Poppins"/>
              </a:rPr>
              <a:t>ig</a:t>
            </a:r>
            <a:r>
              <a:rPr lang="en-US" sz="2799" strike="noStrike" u="none">
                <a:solidFill>
                  <a:srgbClr val="FFFFFF">
                    <a:alpha val="71765"/>
                  </a:srgbClr>
                </a:solidFill>
                <a:latin typeface="Poppins"/>
                <a:ea typeface="Poppins"/>
                <a:cs typeface="Poppins"/>
                <a:sym typeface="Poppins"/>
              </a:rPr>
              <a:t>ht</a:t>
            </a:r>
            <a:r>
              <a:rPr lang="en-US" sz="2799" strike="noStrike" u="none">
                <a:solidFill>
                  <a:srgbClr val="FFFFFF">
                    <a:alpha val="71765"/>
                  </a:srgbClr>
                </a:solidFill>
                <a:latin typeface="Poppins"/>
                <a:ea typeface="Poppins"/>
                <a:cs typeface="Poppins"/>
                <a:sym typeface="Poppins"/>
              </a:rPr>
              <a:t> i</a:t>
            </a:r>
            <a:r>
              <a:rPr lang="en-US" sz="2799" strike="noStrike" u="none">
                <a:solidFill>
                  <a:srgbClr val="FFFFFF">
                    <a:alpha val="71765"/>
                  </a:srgbClr>
                </a:solidFill>
                <a:latin typeface="Poppins"/>
                <a:ea typeface="Poppins"/>
                <a:cs typeface="Poppins"/>
                <a:sym typeface="Poppins"/>
              </a:rPr>
              <a:t>n</a:t>
            </a:r>
            <a:r>
              <a:rPr lang="en-US" sz="2799" strike="noStrike" u="none">
                <a:solidFill>
                  <a:srgbClr val="FFFFFF">
                    <a:alpha val="71765"/>
                  </a:srgbClr>
                </a:solidFill>
                <a:latin typeface="Poppins"/>
                <a:ea typeface="Poppins"/>
                <a:cs typeface="Poppins"/>
                <a:sym typeface="Poppins"/>
              </a:rPr>
              <a:t>te</a:t>
            </a:r>
            <a:r>
              <a:rPr lang="en-US" sz="2799" strike="noStrike" u="none">
                <a:solidFill>
                  <a:srgbClr val="FFFFFF">
                    <a:alpha val="71765"/>
                  </a:srgbClr>
                </a:solidFill>
                <a:latin typeface="Poppins"/>
                <a:ea typeface="Poppins"/>
                <a:cs typeface="Poppins"/>
                <a:sym typeface="Poppins"/>
              </a:rPr>
              <a:t>n</a:t>
            </a:r>
            <a:r>
              <a:rPr lang="en-US" sz="2799" strike="noStrike" u="none">
                <a:solidFill>
                  <a:srgbClr val="FFFFFF">
                    <a:alpha val="71765"/>
                  </a:srgbClr>
                </a:solidFill>
                <a:latin typeface="Poppins"/>
                <a:ea typeface="Poppins"/>
                <a:cs typeface="Poppins"/>
                <a:sym typeface="Poppins"/>
              </a:rPr>
              <a:t>sit</a:t>
            </a:r>
            <a:r>
              <a:rPr lang="en-US" sz="2799" strike="noStrike" u="none">
                <a:solidFill>
                  <a:srgbClr val="FFFFFF">
                    <a:alpha val="71765"/>
                  </a:srgbClr>
                </a:solidFill>
                <a:latin typeface="Poppins"/>
                <a:ea typeface="Poppins"/>
                <a:cs typeface="Poppins"/>
                <a:sym typeface="Poppins"/>
              </a:rPr>
              <a:t>y.</a:t>
            </a:r>
          </a:p>
          <a:p>
            <a:pPr algn="l" marL="604519" indent="-302260" lvl="1">
              <a:lnSpc>
                <a:spcPts val="4759"/>
              </a:lnSpc>
              <a:spcBef>
                <a:spcPct val="0"/>
              </a:spcBef>
              <a:buFont typeface="Arial"/>
              <a:buChar char="•"/>
            </a:pPr>
            <a:r>
              <a:rPr lang="en-US" sz="2799" strike="noStrike" u="none">
                <a:solidFill>
                  <a:srgbClr val="FFFFFF">
                    <a:alpha val="71765"/>
                  </a:srgbClr>
                </a:solidFill>
                <a:latin typeface="Poppins"/>
                <a:ea typeface="Poppins"/>
                <a:cs typeface="Poppins"/>
                <a:sym typeface="Poppins"/>
              </a:rPr>
              <a:t>R</a:t>
            </a:r>
            <a:r>
              <a:rPr lang="en-US" sz="2799" strike="noStrike" u="none">
                <a:solidFill>
                  <a:srgbClr val="FFFFFF">
                    <a:alpha val="71765"/>
                  </a:srgbClr>
                </a:solidFill>
                <a:latin typeface="Poppins"/>
                <a:ea typeface="Poppins"/>
                <a:cs typeface="Poppins"/>
                <a:sym typeface="Poppins"/>
              </a:rPr>
              <a:t>esis</a:t>
            </a:r>
            <a:r>
              <a:rPr lang="en-US" sz="2799" strike="noStrike" u="none">
                <a:solidFill>
                  <a:srgbClr val="FFFFFF">
                    <a:alpha val="71765"/>
                  </a:srgbClr>
                </a:solidFill>
                <a:latin typeface="Poppins"/>
                <a:ea typeface="Poppins"/>
                <a:cs typeface="Poppins"/>
                <a:sym typeface="Poppins"/>
              </a:rPr>
              <a:t>t</a:t>
            </a:r>
            <a:r>
              <a:rPr lang="en-US" sz="2799" strike="noStrike" u="none">
                <a:solidFill>
                  <a:srgbClr val="FFFFFF">
                    <a:alpha val="71765"/>
                  </a:srgbClr>
                </a:solidFill>
                <a:latin typeface="Poppins"/>
                <a:ea typeface="Poppins"/>
                <a:cs typeface="Poppins"/>
                <a:sym typeface="Poppins"/>
              </a:rPr>
              <a:t>ance </a:t>
            </a:r>
            <a:r>
              <a:rPr lang="en-US" sz="2799" strike="noStrike" u="none">
                <a:solidFill>
                  <a:srgbClr val="FFFFFF">
                    <a:alpha val="71765"/>
                  </a:srgbClr>
                </a:solidFill>
                <a:latin typeface="Poppins"/>
                <a:ea typeface="Poppins"/>
                <a:cs typeface="Poppins"/>
                <a:sym typeface="Poppins"/>
              </a:rPr>
              <a:t>v</a:t>
            </a:r>
            <a:r>
              <a:rPr lang="en-US" sz="2799" strike="noStrike" u="none">
                <a:solidFill>
                  <a:srgbClr val="FFFFFF">
                    <a:alpha val="71765"/>
                  </a:srgbClr>
                </a:solidFill>
                <a:latin typeface="Poppins"/>
                <a:ea typeface="Poppins"/>
                <a:cs typeface="Poppins"/>
                <a:sym typeface="Poppins"/>
              </a:rPr>
              <a:t>ar</a:t>
            </a:r>
            <a:r>
              <a:rPr lang="en-US" sz="2799" strike="noStrike" u="none">
                <a:solidFill>
                  <a:srgbClr val="FFFFFF">
                    <a:alpha val="71765"/>
                  </a:srgbClr>
                </a:solidFill>
                <a:latin typeface="Poppins"/>
                <a:ea typeface="Poppins"/>
                <a:cs typeface="Poppins"/>
                <a:sym typeface="Poppins"/>
              </a:rPr>
              <a:t>ie</a:t>
            </a:r>
            <a:r>
              <a:rPr lang="en-US" sz="2799" strike="noStrike" u="none">
                <a:solidFill>
                  <a:srgbClr val="FFFFFF">
                    <a:alpha val="71765"/>
                  </a:srgbClr>
                </a:solidFill>
                <a:latin typeface="Poppins"/>
                <a:ea typeface="Poppins"/>
                <a:cs typeface="Poppins"/>
                <a:sym typeface="Poppins"/>
              </a:rPr>
              <a:t>s with illumination.</a:t>
            </a:r>
          </a:p>
          <a:p>
            <a:pPr algn="l" marL="0" indent="0" lvl="0">
              <a:lnSpc>
                <a:spcPts val="4759"/>
              </a:lnSpc>
              <a:spcBef>
                <a:spcPct val="0"/>
              </a:spcBef>
            </a:pPr>
          </a:p>
        </p:txBody>
      </p:sp>
      <p:sp>
        <p:nvSpPr>
          <p:cNvPr name="TextBox 16" id="16"/>
          <p:cNvSpPr txBox="true"/>
          <p:nvPr/>
        </p:nvSpPr>
        <p:spPr>
          <a:xfrm rot="0">
            <a:off x="6085122" y="3457476"/>
            <a:ext cx="5193491" cy="1191304"/>
          </a:xfrm>
          <a:prstGeom prst="rect">
            <a:avLst/>
          </a:prstGeom>
        </p:spPr>
        <p:txBody>
          <a:bodyPr anchor="t" rtlCol="false" tIns="0" lIns="0" bIns="0" rIns="0">
            <a:spAutoFit/>
          </a:bodyPr>
          <a:lstStyle/>
          <a:p>
            <a:pPr algn="l">
              <a:lnSpc>
                <a:spcPts val="4687"/>
              </a:lnSpc>
            </a:pPr>
            <a:r>
              <a:rPr lang="en-US" sz="3348" spc="418">
                <a:solidFill>
                  <a:srgbClr val="FFFFFF"/>
                </a:solidFill>
                <a:latin typeface="Poppins"/>
                <a:ea typeface="Poppins"/>
                <a:cs typeface="Poppins"/>
                <a:sym typeface="Poppins"/>
              </a:rPr>
              <a:t>LIGHT DEPENDENT RESISTOR</a:t>
            </a:r>
          </a:p>
        </p:txBody>
      </p:sp>
      <p:sp>
        <p:nvSpPr>
          <p:cNvPr name="TextBox 17" id="17"/>
          <p:cNvSpPr txBox="true"/>
          <p:nvPr/>
        </p:nvSpPr>
        <p:spPr>
          <a:xfrm rot="0">
            <a:off x="683563" y="4981575"/>
            <a:ext cx="4520934" cy="2238375"/>
          </a:xfrm>
          <a:prstGeom prst="rect">
            <a:avLst/>
          </a:prstGeom>
        </p:spPr>
        <p:txBody>
          <a:bodyPr anchor="t" rtlCol="false" tIns="0" lIns="0" bIns="0" rIns="0">
            <a:spAutoFit/>
          </a:bodyPr>
          <a:lstStyle/>
          <a:p>
            <a:pPr algn="l" marL="604516" indent="-302258" lvl="1">
              <a:lnSpc>
                <a:spcPts val="4759"/>
              </a:lnSpc>
              <a:buFont typeface="Arial"/>
              <a:buChar char="•"/>
            </a:pPr>
            <a:r>
              <a:rPr lang="en-US" sz="2799">
                <a:solidFill>
                  <a:srgbClr val="FFFFFF">
                    <a:alpha val="71765"/>
                  </a:srgbClr>
                </a:solidFill>
                <a:latin typeface="Poppins"/>
                <a:ea typeface="Poppins"/>
                <a:cs typeface="Poppins"/>
                <a:sym typeface="Poppins"/>
              </a:rPr>
              <a:t>Temperature sensor</a:t>
            </a:r>
          </a:p>
          <a:p>
            <a:pPr algn="l" marL="604516" indent="-302258" lvl="1">
              <a:lnSpc>
                <a:spcPts val="4759"/>
              </a:lnSpc>
              <a:spcBef>
                <a:spcPct val="0"/>
              </a:spcBef>
              <a:buFont typeface="Arial"/>
              <a:buChar char="•"/>
            </a:pPr>
            <a:r>
              <a:rPr lang="en-US" sz="2799">
                <a:solidFill>
                  <a:srgbClr val="FFFFFF">
                    <a:alpha val="71765"/>
                  </a:srgbClr>
                </a:solidFill>
                <a:latin typeface="Poppins"/>
                <a:ea typeface="Poppins"/>
                <a:cs typeface="Poppins"/>
                <a:sym typeface="Poppins"/>
              </a:rPr>
              <a:t>Ana</a:t>
            </a:r>
            <a:r>
              <a:rPr lang="en-US" sz="2799" strike="noStrike" u="none">
                <a:solidFill>
                  <a:srgbClr val="FFFFFF">
                    <a:alpha val="71765"/>
                  </a:srgbClr>
                </a:solidFill>
                <a:latin typeface="Poppins"/>
                <a:ea typeface="Poppins"/>
                <a:cs typeface="Poppins"/>
                <a:sym typeface="Poppins"/>
              </a:rPr>
              <a:t>lo</a:t>
            </a:r>
            <a:r>
              <a:rPr lang="en-US" sz="2799" strike="noStrike" u="none">
                <a:solidFill>
                  <a:srgbClr val="FFFFFF">
                    <a:alpha val="71765"/>
                  </a:srgbClr>
                </a:solidFill>
                <a:latin typeface="Poppins"/>
                <a:ea typeface="Poppins"/>
                <a:cs typeface="Poppins"/>
                <a:sym typeface="Poppins"/>
              </a:rPr>
              <a:t>g</a:t>
            </a:r>
            <a:r>
              <a:rPr lang="en-US" sz="2799" strike="noStrike" u="none">
                <a:solidFill>
                  <a:srgbClr val="FFFFFF">
                    <a:alpha val="71765"/>
                  </a:srgbClr>
                </a:solidFill>
                <a:latin typeface="Poppins"/>
                <a:ea typeface="Poppins"/>
                <a:cs typeface="Poppins"/>
                <a:sym typeface="Poppins"/>
              </a:rPr>
              <a:t> outpu</a:t>
            </a:r>
            <a:r>
              <a:rPr lang="en-US" sz="2799" strike="noStrike" u="none">
                <a:solidFill>
                  <a:srgbClr val="FFFFFF">
                    <a:alpha val="71765"/>
                  </a:srgbClr>
                </a:solidFill>
                <a:latin typeface="Poppins"/>
                <a:ea typeface="Poppins"/>
                <a:cs typeface="Poppins"/>
                <a:sym typeface="Poppins"/>
              </a:rPr>
              <a:t>t </a:t>
            </a:r>
          </a:p>
          <a:p>
            <a:pPr algn="l" marL="604516" indent="-302258" lvl="1">
              <a:lnSpc>
                <a:spcPts val="4759"/>
              </a:lnSpc>
              <a:spcBef>
                <a:spcPct val="0"/>
              </a:spcBef>
              <a:buFont typeface="Arial"/>
              <a:buChar char="•"/>
            </a:pPr>
            <a:r>
              <a:rPr lang="en-US" sz="2799" strike="noStrike" u="none">
                <a:solidFill>
                  <a:srgbClr val="FFFFFF">
                    <a:alpha val="71765"/>
                  </a:srgbClr>
                </a:solidFill>
                <a:latin typeface="Poppins"/>
                <a:ea typeface="Poppins"/>
                <a:cs typeface="Poppins"/>
                <a:sym typeface="Poppins"/>
              </a:rPr>
              <a:t>R</a:t>
            </a:r>
            <a:r>
              <a:rPr lang="en-US" sz="2799" strike="noStrike" u="none">
                <a:solidFill>
                  <a:srgbClr val="FFFFFF">
                    <a:alpha val="71765"/>
                  </a:srgbClr>
                </a:solidFill>
                <a:latin typeface="Poppins"/>
                <a:ea typeface="Poppins"/>
                <a:cs typeface="Poppins"/>
                <a:sym typeface="Poppins"/>
              </a:rPr>
              <a:t>an</a:t>
            </a:r>
            <a:r>
              <a:rPr lang="en-US" sz="2799" strike="noStrike" u="none">
                <a:solidFill>
                  <a:srgbClr val="FFFFFF">
                    <a:alpha val="71765"/>
                  </a:srgbClr>
                </a:solidFill>
                <a:latin typeface="Poppins"/>
                <a:ea typeface="Poppins"/>
                <a:cs typeface="Poppins"/>
                <a:sym typeface="Poppins"/>
              </a:rPr>
              <a:t>g</a:t>
            </a:r>
            <a:r>
              <a:rPr lang="en-US" sz="2799" strike="noStrike" u="none">
                <a:solidFill>
                  <a:srgbClr val="FFFFFF">
                    <a:alpha val="71765"/>
                  </a:srgbClr>
                </a:solidFill>
                <a:latin typeface="Poppins"/>
                <a:ea typeface="Poppins"/>
                <a:cs typeface="Poppins"/>
                <a:sym typeface="Poppins"/>
              </a:rPr>
              <a:t>e</a:t>
            </a:r>
            <a:r>
              <a:rPr lang="en-US" sz="2799" strike="noStrike" u="none">
                <a:solidFill>
                  <a:srgbClr val="FFFFFF">
                    <a:alpha val="71765"/>
                  </a:srgbClr>
                </a:solidFill>
                <a:latin typeface="Poppins"/>
                <a:ea typeface="Poppins"/>
                <a:cs typeface="Poppins"/>
                <a:sym typeface="Poppins"/>
              </a:rPr>
              <a:t>:</a:t>
            </a:r>
            <a:r>
              <a:rPr lang="en-US" sz="2799" strike="noStrike" u="none">
                <a:solidFill>
                  <a:srgbClr val="FFFFFF">
                    <a:alpha val="71765"/>
                  </a:srgbClr>
                </a:solidFill>
                <a:latin typeface="Poppins"/>
                <a:ea typeface="Poppins"/>
                <a:cs typeface="Poppins"/>
                <a:sym typeface="Poppins"/>
              </a:rPr>
              <a:t> </a:t>
            </a:r>
            <a:r>
              <a:rPr lang="en-US" sz="2799" strike="noStrike" u="none">
                <a:solidFill>
                  <a:srgbClr val="FFFFFF">
                    <a:alpha val="71765"/>
                  </a:srgbClr>
                </a:solidFill>
                <a:latin typeface="Poppins"/>
                <a:ea typeface="Poppins"/>
                <a:cs typeface="Poppins"/>
                <a:sym typeface="Poppins"/>
              </a:rPr>
              <a:t>-40°C</a:t>
            </a:r>
            <a:r>
              <a:rPr lang="en-US" sz="2799" strike="noStrike" u="none">
                <a:solidFill>
                  <a:srgbClr val="FFFFFF">
                    <a:alpha val="71765"/>
                  </a:srgbClr>
                </a:solidFill>
                <a:latin typeface="Poppins"/>
                <a:ea typeface="Poppins"/>
                <a:cs typeface="Poppins"/>
                <a:sym typeface="Poppins"/>
              </a:rPr>
              <a:t> to 100°C</a:t>
            </a:r>
          </a:p>
          <a:p>
            <a:pPr algn="l" marL="0" indent="0" lvl="0">
              <a:lnSpc>
                <a:spcPts val="3400"/>
              </a:lnSpc>
              <a:spcBef>
                <a:spcPct val="0"/>
              </a:spcBef>
            </a:pPr>
          </a:p>
        </p:txBody>
      </p:sp>
      <p:sp>
        <p:nvSpPr>
          <p:cNvPr name="TextBox 18" id="18"/>
          <p:cNvSpPr txBox="true"/>
          <p:nvPr/>
        </p:nvSpPr>
        <p:spPr>
          <a:xfrm rot="0">
            <a:off x="1033025" y="3457476"/>
            <a:ext cx="4175798" cy="600754"/>
          </a:xfrm>
          <a:prstGeom prst="rect">
            <a:avLst/>
          </a:prstGeom>
        </p:spPr>
        <p:txBody>
          <a:bodyPr anchor="t" rtlCol="false" tIns="0" lIns="0" bIns="0" rIns="0">
            <a:spAutoFit/>
          </a:bodyPr>
          <a:lstStyle/>
          <a:p>
            <a:pPr algn="l">
              <a:lnSpc>
                <a:spcPts val="4687"/>
              </a:lnSpc>
            </a:pPr>
            <a:r>
              <a:rPr lang="en-US" sz="3348" spc="418">
                <a:solidFill>
                  <a:srgbClr val="FFFFFF"/>
                </a:solidFill>
                <a:latin typeface="Poppins"/>
                <a:ea typeface="Poppins"/>
                <a:cs typeface="Poppins"/>
                <a:sym typeface="Poppins"/>
              </a:rPr>
              <a:t>THERMOSTAT</a:t>
            </a:r>
          </a:p>
        </p:txBody>
      </p:sp>
      <p:grpSp>
        <p:nvGrpSpPr>
          <p:cNvPr name="Group 19" id="19"/>
          <p:cNvGrpSpPr/>
          <p:nvPr/>
        </p:nvGrpSpPr>
        <p:grpSpPr>
          <a:xfrm rot="0">
            <a:off x="2764932" y="7993981"/>
            <a:ext cx="2439566" cy="95753"/>
            <a:chOff x="0" y="0"/>
            <a:chExt cx="642519" cy="25219"/>
          </a:xfrm>
        </p:grpSpPr>
        <p:sp>
          <p:nvSpPr>
            <p:cNvPr name="Freeform 20" id="20"/>
            <p:cNvSpPr/>
            <p:nvPr/>
          </p:nvSpPr>
          <p:spPr>
            <a:xfrm flipH="false" flipV="false" rot="0">
              <a:off x="0" y="0"/>
              <a:ext cx="642519" cy="25219"/>
            </a:xfrm>
            <a:custGeom>
              <a:avLst/>
              <a:gdLst/>
              <a:ahLst/>
              <a:cxnLst/>
              <a:rect r="r" b="b" t="t" l="l"/>
              <a:pathLst>
                <a:path h="25219" w="642519">
                  <a:moveTo>
                    <a:pt x="0" y="0"/>
                  </a:moveTo>
                  <a:lnTo>
                    <a:pt x="642519" y="0"/>
                  </a:lnTo>
                  <a:lnTo>
                    <a:pt x="642519" y="25219"/>
                  </a:lnTo>
                  <a:lnTo>
                    <a:pt x="0" y="25219"/>
                  </a:lnTo>
                  <a:close/>
                </a:path>
              </a:pathLst>
            </a:custGeom>
            <a:solidFill>
              <a:srgbClr val="9FCDFF"/>
            </a:solidFill>
          </p:spPr>
        </p:sp>
        <p:sp>
          <p:nvSpPr>
            <p:cNvPr name="TextBox 21" id="21"/>
            <p:cNvSpPr txBox="true"/>
            <p:nvPr/>
          </p:nvSpPr>
          <p:spPr>
            <a:xfrm>
              <a:off x="0" y="-57150"/>
              <a:ext cx="642519" cy="82369"/>
            </a:xfrm>
            <a:prstGeom prst="rect">
              <a:avLst/>
            </a:prstGeom>
          </p:spPr>
          <p:txBody>
            <a:bodyPr anchor="ctr" rtlCol="false" tIns="50800" lIns="50800" bIns="50800" rIns="50800"/>
            <a:lstStyle/>
            <a:p>
              <a:pPr algn="ctr">
                <a:lnSpc>
                  <a:spcPts val="2867"/>
                </a:lnSpc>
              </a:pPr>
            </a:p>
          </p:txBody>
        </p:sp>
      </p:grpSp>
      <p:grpSp>
        <p:nvGrpSpPr>
          <p:cNvPr name="Group 22" id="22"/>
          <p:cNvGrpSpPr/>
          <p:nvPr/>
        </p:nvGrpSpPr>
        <p:grpSpPr>
          <a:xfrm rot="0">
            <a:off x="6547254" y="8004403"/>
            <a:ext cx="3086100" cy="85331"/>
            <a:chOff x="0" y="0"/>
            <a:chExt cx="812800" cy="22474"/>
          </a:xfrm>
        </p:grpSpPr>
        <p:sp>
          <p:nvSpPr>
            <p:cNvPr name="Freeform 23" id="23"/>
            <p:cNvSpPr/>
            <p:nvPr/>
          </p:nvSpPr>
          <p:spPr>
            <a:xfrm flipH="false" flipV="false" rot="0">
              <a:off x="0" y="0"/>
              <a:ext cx="812800" cy="22474"/>
            </a:xfrm>
            <a:custGeom>
              <a:avLst/>
              <a:gdLst/>
              <a:ahLst/>
              <a:cxnLst/>
              <a:rect r="r" b="b" t="t" l="l"/>
              <a:pathLst>
                <a:path h="22474" w="812800">
                  <a:moveTo>
                    <a:pt x="0" y="0"/>
                  </a:moveTo>
                  <a:lnTo>
                    <a:pt x="812800" y="0"/>
                  </a:lnTo>
                  <a:lnTo>
                    <a:pt x="812800" y="22474"/>
                  </a:lnTo>
                  <a:lnTo>
                    <a:pt x="0" y="22474"/>
                  </a:lnTo>
                  <a:close/>
                </a:path>
              </a:pathLst>
            </a:custGeom>
            <a:solidFill>
              <a:srgbClr val="FFFFFF"/>
            </a:solidFill>
          </p:spPr>
        </p:sp>
        <p:sp>
          <p:nvSpPr>
            <p:cNvPr name="TextBox 24" id="24"/>
            <p:cNvSpPr txBox="true"/>
            <p:nvPr/>
          </p:nvSpPr>
          <p:spPr>
            <a:xfrm>
              <a:off x="0" y="-57150"/>
              <a:ext cx="812800" cy="79624"/>
            </a:xfrm>
            <a:prstGeom prst="rect">
              <a:avLst/>
            </a:prstGeom>
          </p:spPr>
          <p:txBody>
            <a:bodyPr anchor="ctr" rtlCol="false" tIns="50800" lIns="50800" bIns="50800" rIns="50800"/>
            <a:lstStyle/>
            <a:p>
              <a:pPr algn="ctr">
                <a:lnSpc>
                  <a:spcPts val="2867"/>
                </a:lnSpc>
              </a:pPr>
            </a:p>
          </p:txBody>
        </p:sp>
      </p:grpSp>
      <p:grpSp>
        <p:nvGrpSpPr>
          <p:cNvPr name="Group 25" id="25"/>
          <p:cNvGrpSpPr/>
          <p:nvPr/>
        </p:nvGrpSpPr>
        <p:grpSpPr>
          <a:xfrm rot="0">
            <a:off x="8283486" y="7993981"/>
            <a:ext cx="2439566" cy="95753"/>
            <a:chOff x="0" y="0"/>
            <a:chExt cx="642519" cy="25219"/>
          </a:xfrm>
        </p:grpSpPr>
        <p:sp>
          <p:nvSpPr>
            <p:cNvPr name="Freeform 26" id="26"/>
            <p:cNvSpPr/>
            <p:nvPr/>
          </p:nvSpPr>
          <p:spPr>
            <a:xfrm flipH="false" flipV="false" rot="0">
              <a:off x="0" y="0"/>
              <a:ext cx="642519" cy="25219"/>
            </a:xfrm>
            <a:custGeom>
              <a:avLst/>
              <a:gdLst/>
              <a:ahLst/>
              <a:cxnLst/>
              <a:rect r="r" b="b" t="t" l="l"/>
              <a:pathLst>
                <a:path h="25219" w="642519">
                  <a:moveTo>
                    <a:pt x="0" y="0"/>
                  </a:moveTo>
                  <a:lnTo>
                    <a:pt x="642519" y="0"/>
                  </a:lnTo>
                  <a:lnTo>
                    <a:pt x="642519" y="25219"/>
                  </a:lnTo>
                  <a:lnTo>
                    <a:pt x="0" y="25219"/>
                  </a:lnTo>
                  <a:close/>
                </a:path>
              </a:pathLst>
            </a:custGeom>
            <a:solidFill>
              <a:srgbClr val="9FCDFF"/>
            </a:solidFill>
          </p:spPr>
        </p:sp>
        <p:sp>
          <p:nvSpPr>
            <p:cNvPr name="TextBox 27" id="27"/>
            <p:cNvSpPr txBox="true"/>
            <p:nvPr/>
          </p:nvSpPr>
          <p:spPr>
            <a:xfrm>
              <a:off x="0" y="-57150"/>
              <a:ext cx="642519" cy="82369"/>
            </a:xfrm>
            <a:prstGeom prst="rect">
              <a:avLst/>
            </a:prstGeom>
          </p:spPr>
          <p:txBody>
            <a:bodyPr anchor="ctr" rtlCol="false" tIns="50800" lIns="50800" bIns="50800" rIns="50800"/>
            <a:lstStyle/>
            <a:p>
              <a:pPr algn="ctr">
                <a:lnSpc>
                  <a:spcPts val="2867"/>
                </a:lnSpc>
              </a:pPr>
            </a:p>
          </p:txBody>
        </p:sp>
      </p:grpSp>
      <p:grpSp>
        <p:nvGrpSpPr>
          <p:cNvPr name="Group 28" id="28"/>
          <p:cNvGrpSpPr/>
          <p:nvPr/>
        </p:nvGrpSpPr>
        <p:grpSpPr>
          <a:xfrm rot="0">
            <a:off x="12461453" y="8004403"/>
            <a:ext cx="3086100" cy="85331"/>
            <a:chOff x="0" y="0"/>
            <a:chExt cx="812800" cy="22474"/>
          </a:xfrm>
        </p:grpSpPr>
        <p:sp>
          <p:nvSpPr>
            <p:cNvPr name="Freeform 29" id="29"/>
            <p:cNvSpPr/>
            <p:nvPr/>
          </p:nvSpPr>
          <p:spPr>
            <a:xfrm flipH="false" flipV="false" rot="0">
              <a:off x="0" y="0"/>
              <a:ext cx="812800" cy="22474"/>
            </a:xfrm>
            <a:custGeom>
              <a:avLst/>
              <a:gdLst/>
              <a:ahLst/>
              <a:cxnLst/>
              <a:rect r="r" b="b" t="t" l="l"/>
              <a:pathLst>
                <a:path h="22474" w="812800">
                  <a:moveTo>
                    <a:pt x="0" y="0"/>
                  </a:moveTo>
                  <a:lnTo>
                    <a:pt x="812800" y="0"/>
                  </a:lnTo>
                  <a:lnTo>
                    <a:pt x="812800" y="22474"/>
                  </a:lnTo>
                  <a:lnTo>
                    <a:pt x="0" y="22474"/>
                  </a:lnTo>
                  <a:close/>
                </a:path>
              </a:pathLst>
            </a:custGeom>
            <a:solidFill>
              <a:srgbClr val="FFFFFF"/>
            </a:solidFill>
          </p:spPr>
        </p:sp>
        <p:sp>
          <p:nvSpPr>
            <p:cNvPr name="TextBox 30" id="30"/>
            <p:cNvSpPr txBox="true"/>
            <p:nvPr/>
          </p:nvSpPr>
          <p:spPr>
            <a:xfrm>
              <a:off x="0" y="-57150"/>
              <a:ext cx="812800" cy="79624"/>
            </a:xfrm>
            <a:prstGeom prst="rect">
              <a:avLst/>
            </a:prstGeom>
          </p:spPr>
          <p:txBody>
            <a:bodyPr anchor="ctr" rtlCol="false" tIns="50800" lIns="50800" bIns="50800" rIns="50800"/>
            <a:lstStyle/>
            <a:p>
              <a:pPr algn="ctr">
                <a:lnSpc>
                  <a:spcPts val="2867"/>
                </a:lnSpc>
              </a:pPr>
            </a:p>
          </p:txBody>
        </p:sp>
      </p:grpSp>
      <p:grpSp>
        <p:nvGrpSpPr>
          <p:cNvPr name="Group 31" id="31"/>
          <p:cNvGrpSpPr/>
          <p:nvPr/>
        </p:nvGrpSpPr>
        <p:grpSpPr>
          <a:xfrm rot="0">
            <a:off x="14197685" y="7993981"/>
            <a:ext cx="2439566" cy="95753"/>
            <a:chOff x="0" y="0"/>
            <a:chExt cx="642519" cy="25219"/>
          </a:xfrm>
        </p:grpSpPr>
        <p:sp>
          <p:nvSpPr>
            <p:cNvPr name="Freeform 32" id="32"/>
            <p:cNvSpPr/>
            <p:nvPr/>
          </p:nvSpPr>
          <p:spPr>
            <a:xfrm flipH="false" flipV="false" rot="0">
              <a:off x="0" y="0"/>
              <a:ext cx="642519" cy="25219"/>
            </a:xfrm>
            <a:custGeom>
              <a:avLst/>
              <a:gdLst/>
              <a:ahLst/>
              <a:cxnLst/>
              <a:rect r="r" b="b" t="t" l="l"/>
              <a:pathLst>
                <a:path h="25219" w="642519">
                  <a:moveTo>
                    <a:pt x="0" y="0"/>
                  </a:moveTo>
                  <a:lnTo>
                    <a:pt x="642519" y="0"/>
                  </a:lnTo>
                  <a:lnTo>
                    <a:pt x="642519" y="25219"/>
                  </a:lnTo>
                  <a:lnTo>
                    <a:pt x="0" y="25219"/>
                  </a:lnTo>
                  <a:close/>
                </a:path>
              </a:pathLst>
            </a:custGeom>
            <a:solidFill>
              <a:srgbClr val="9FCDFF"/>
            </a:solidFill>
          </p:spPr>
        </p:sp>
        <p:sp>
          <p:nvSpPr>
            <p:cNvPr name="TextBox 33" id="33"/>
            <p:cNvSpPr txBox="true"/>
            <p:nvPr/>
          </p:nvSpPr>
          <p:spPr>
            <a:xfrm>
              <a:off x="0" y="-57150"/>
              <a:ext cx="642519" cy="82369"/>
            </a:xfrm>
            <a:prstGeom prst="rect">
              <a:avLst/>
            </a:prstGeom>
          </p:spPr>
          <p:txBody>
            <a:bodyPr anchor="ctr" rtlCol="false" tIns="50800" lIns="50800" bIns="50800" rIns="50800"/>
            <a:lstStyle/>
            <a:p>
              <a:pPr algn="ctr">
                <a:lnSpc>
                  <a:spcPts val="2867"/>
                </a:lnSpc>
              </a:pPr>
            </a:p>
          </p:txBody>
        </p:sp>
      </p:grpSp>
      <p:sp>
        <p:nvSpPr>
          <p:cNvPr name="Freeform 34" id="34"/>
          <p:cNvSpPr/>
          <p:nvPr/>
        </p:nvSpPr>
        <p:spPr>
          <a:xfrm flipH="false" flipV="false" rot="0">
            <a:off x="15398668" y="2389377"/>
            <a:ext cx="3721264" cy="1867398"/>
          </a:xfrm>
          <a:custGeom>
            <a:avLst/>
            <a:gdLst/>
            <a:ahLst/>
            <a:cxnLst/>
            <a:rect r="r" b="b" t="t" l="l"/>
            <a:pathLst>
              <a:path h="1867398" w="3721264">
                <a:moveTo>
                  <a:pt x="0" y="0"/>
                </a:moveTo>
                <a:lnTo>
                  <a:pt x="3721264" y="0"/>
                </a:lnTo>
                <a:lnTo>
                  <a:pt x="3721264" y="1867398"/>
                </a:lnTo>
                <a:lnTo>
                  <a:pt x="0" y="1867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418105"/>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4813263" y="576186"/>
            <a:ext cx="11245160" cy="38381"/>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1642389" y="815704"/>
            <a:ext cx="14769473" cy="8861684"/>
          </a:xfrm>
          <a:custGeom>
            <a:avLst/>
            <a:gdLst/>
            <a:ahLst/>
            <a:cxnLst/>
            <a:rect r="r" b="b" t="t" l="l"/>
            <a:pathLst>
              <a:path h="8861684" w="14769473">
                <a:moveTo>
                  <a:pt x="0" y="0"/>
                </a:moveTo>
                <a:lnTo>
                  <a:pt x="14769473" y="0"/>
                </a:lnTo>
                <a:lnTo>
                  <a:pt x="14769473" y="8861684"/>
                </a:lnTo>
                <a:lnTo>
                  <a:pt x="0" y="8861684"/>
                </a:lnTo>
                <a:lnTo>
                  <a:pt x="0" y="0"/>
                </a:lnTo>
                <a:close/>
              </a:path>
            </a:pathLst>
          </a:custGeom>
          <a:blipFill>
            <a:blip r:embed="rId4"/>
            <a:stretch>
              <a:fillRect l="0" t="0" r="0" b="0"/>
            </a:stretch>
          </a:blipFill>
        </p:spPr>
      </p:sp>
      <p:sp>
        <p:nvSpPr>
          <p:cNvPr name="TextBox 5" id="5"/>
          <p:cNvSpPr txBox="true"/>
          <p:nvPr/>
        </p:nvSpPr>
        <p:spPr>
          <a:xfrm rot="0">
            <a:off x="1836946" y="384347"/>
            <a:ext cx="2976317"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6" id="6"/>
          <p:cNvSpPr txBox="true"/>
          <p:nvPr/>
        </p:nvSpPr>
        <p:spPr>
          <a:xfrm rot="0">
            <a:off x="16411862" y="473979"/>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7" id="7"/>
          <p:cNvSpPr txBox="true"/>
          <p:nvPr/>
        </p:nvSpPr>
        <p:spPr>
          <a:xfrm rot="0">
            <a:off x="1335544" y="758554"/>
            <a:ext cx="7867227" cy="1142557"/>
          </a:xfrm>
          <a:prstGeom prst="rect">
            <a:avLst/>
          </a:prstGeom>
        </p:spPr>
        <p:txBody>
          <a:bodyPr anchor="t" rtlCol="false" tIns="0" lIns="0" bIns="0" rIns="0">
            <a:spAutoFit/>
          </a:bodyPr>
          <a:lstStyle/>
          <a:p>
            <a:pPr algn="l">
              <a:lnSpc>
                <a:spcPts val="8509"/>
              </a:lnSpc>
            </a:pPr>
            <a:r>
              <a:rPr lang="en-US" sz="7151" spc="-250" b="true">
                <a:solidFill>
                  <a:srgbClr val="FFFFFF"/>
                </a:solidFill>
                <a:latin typeface="Poppins Ultra-Bold"/>
                <a:ea typeface="Poppins Ultra-Bold"/>
                <a:cs typeface="Poppins Ultra-Bold"/>
                <a:sym typeface="Poppins Ultra-Bold"/>
              </a:rPr>
              <a:t>BLOCK DIAGRAM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418105"/>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4813263" y="576186"/>
            <a:ext cx="11245160" cy="38381"/>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1547404" y="2306357"/>
            <a:ext cx="15193192" cy="7159792"/>
          </a:xfrm>
          <a:custGeom>
            <a:avLst/>
            <a:gdLst/>
            <a:ahLst/>
            <a:cxnLst/>
            <a:rect r="r" b="b" t="t" l="l"/>
            <a:pathLst>
              <a:path h="7159792" w="15193192">
                <a:moveTo>
                  <a:pt x="0" y="0"/>
                </a:moveTo>
                <a:lnTo>
                  <a:pt x="15193192" y="0"/>
                </a:lnTo>
                <a:lnTo>
                  <a:pt x="15193192" y="7159792"/>
                </a:lnTo>
                <a:lnTo>
                  <a:pt x="0" y="7159792"/>
                </a:lnTo>
                <a:lnTo>
                  <a:pt x="0" y="0"/>
                </a:lnTo>
                <a:close/>
              </a:path>
            </a:pathLst>
          </a:custGeom>
          <a:blipFill>
            <a:blip r:embed="rId4"/>
            <a:stretch>
              <a:fillRect l="0" t="0" r="0" b="0"/>
            </a:stretch>
          </a:blipFill>
        </p:spPr>
      </p:sp>
      <p:sp>
        <p:nvSpPr>
          <p:cNvPr name="TextBox 5" id="5"/>
          <p:cNvSpPr txBox="true"/>
          <p:nvPr/>
        </p:nvSpPr>
        <p:spPr>
          <a:xfrm rot="0">
            <a:off x="1836946" y="384347"/>
            <a:ext cx="2976317"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6" id="6"/>
          <p:cNvSpPr txBox="true"/>
          <p:nvPr/>
        </p:nvSpPr>
        <p:spPr>
          <a:xfrm rot="0">
            <a:off x="16411862" y="473979"/>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7" id="7"/>
          <p:cNvSpPr txBox="true"/>
          <p:nvPr/>
        </p:nvSpPr>
        <p:spPr>
          <a:xfrm rot="0">
            <a:off x="1335544" y="758554"/>
            <a:ext cx="9712502" cy="1142557"/>
          </a:xfrm>
          <a:prstGeom prst="rect">
            <a:avLst/>
          </a:prstGeom>
        </p:spPr>
        <p:txBody>
          <a:bodyPr anchor="t" rtlCol="false" tIns="0" lIns="0" bIns="0" rIns="0">
            <a:spAutoFit/>
          </a:bodyPr>
          <a:lstStyle/>
          <a:p>
            <a:pPr algn="l">
              <a:lnSpc>
                <a:spcPts val="8509"/>
              </a:lnSpc>
            </a:pPr>
            <a:r>
              <a:rPr lang="en-US" sz="7151" spc="-250" b="true">
                <a:solidFill>
                  <a:srgbClr val="FFFFFF"/>
                </a:solidFill>
                <a:latin typeface="Poppins Ultra-Bold"/>
                <a:ea typeface="Poppins Ultra-Bold"/>
                <a:cs typeface="Poppins Ultra-Bold"/>
                <a:sym typeface="Poppins Ultra-Bold"/>
              </a:rPr>
              <a:t>SCHEMATIC  LAYOUT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418105"/>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4813263" y="576186"/>
            <a:ext cx="11245160" cy="38381"/>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990796" y="9258300"/>
            <a:ext cx="18250096" cy="1881172"/>
            <a:chOff x="0" y="0"/>
            <a:chExt cx="4806610" cy="495453"/>
          </a:xfrm>
        </p:grpSpPr>
        <p:sp>
          <p:nvSpPr>
            <p:cNvPr name="Freeform 5" id="5"/>
            <p:cNvSpPr/>
            <p:nvPr/>
          </p:nvSpPr>
          <p:spPr>
            <a:xfrm flipH="false" flipV="false" rot="0">
              <a:off x="0" y="0"/>
              <a:ext cx="4806610" cy="495453"/>
            </a:xfrm>
            <a:custGeom>
              <a:avLst/>
              <a:gdLst/>
              <a:ahLst/>
              <a:cxnLst/>
              <a:rect r="r" b="b" t="t" l="l"/>
              <a:pathLst>
                <a:path h="495453" w="4806610">
                  <a:moveTo>
                    <a:pt x="42421" y="0"/>
                  </a:moveTo>
                  <a:lnTo>
                    <a:pt x="4764189" y="0"/>
                  </a:lnTo>
                  <a:cubicBezTo>
                    <a:pt x="4775439" y="0"/>
                    <a:pt x="4786229" y="4469"/>
                    <a:pt x="4794185" y="12425"/>
                  </a:cubicBezTo>
                  <a:cubicBezTo>
                    <a:pt x="4802140" y="20380"/>
                    <a:pt x="4806610" y="31170"/>
                    <a:pt x="4806610" y="42421"/>
                  </a:cubicBezTo>
                  <a:lnTo>
                    <a:pt x="4806610" y="453031"/>
                  </a:lnTo>
                  <a:cubicBezTo>
                    <a:pt x="4806610" y="464282"/>
                    <a:pt x="4802140" y="475072"/>
                    <a:pt x="4794185" y="483028"/>
                  </a:cubicBezTo>
                  <a:cubicBezTo>
                    <a:pt x="4786229" y="490983"/>
                    <a:pt x="4775439" y="495453"/>
                    <a:pt x="4764189" y="495453"/>
                  </a:cubicBezTo>
                  <a:lnTo>
                    <a:pt x="42421" y="495453"/>
                  </a:lnTo>
                  <a:cubicBezTo>
                    <a:pt x="31170" y="495453"/>
                    <a:pt x="20380" y="490983"/>
                    <a:pt x="12425" y="483028"/>
                  </a:cubicBezTo>
                  <a:cubicBezTo>
                    <a:pt x="4469" y="475072"/>
                    <a:pt x="0" y="464282"/>
                    <a:pt x="0" y="453031"/>
                  </a:cubicBezTo>
                  <a:lnTo>
                    <a:pt x="0" y="42421"/>
                  </a:lnTo>
                  <a:cubicBezTo>
                    <a:pt x="0" y="31170"/>
                    <a:pt x="4469" y="20380"/>
                    <a:pt x="12425" y="12425"/>
                  </a:cubicBezTo>
                  <a:cubicBezTo>
                    <a:pt x="20380" y="4469"/>
                    <a:pt x="31170" y="0"/>
                    <a:pt x="42421" y="0"/>
                  </a:cubicBezTo>
                  <a:close/>
                </a:path>
              </a:pathLst>
            </a:custGeom>
            <a:solidFill>
              <a:srgbClr val="FFFFFF"/>
            </a:solidFill>
            <a:ln w="38100" cap="rnd">
              <a:solidFill>
                <a:srgbClr val="1C0140"/>
              </a:solidFill>
              <a:prstDash val="solid"/>
              <a:round/>
            </a:ln>
          </p:spPr>
        </p:sp>
        <p:sp>
          <p:nvSpPr>
            <p:cNvPr name="TextBox 6" id="6"/>
            <p:cNvSpPr txBox="true"/>
            <p:nvPr/>
          </p:nvSpPr>
          <p:spPr>
            <a:xfrm>
              <a:off x="0" y="-57150"/>
              <a:ext cx="4806610" cy="552603"/>
            </a:xfrm>
            <a:prstGeom prst="rect">
              <a:avLst/>
            </a:prstGeom>
          </p:spPr>
          <p:txBody>
            <a:bodyPr anchor="ctr" rtlCol="false" tIns="50800" lIns="50800" bIns="50800" rIns="50800"/>
            <a:lstStyle/>
            <a:p>
              <a:pPr algn="ctr">
                <a:lnSpc>
                  <a:spcPts val="2867"/>
                </a:lnSpc>
              </a:pPr>
            </a:p>
          </p:txBody>
        </p:sp>
      </p:grpSp>
      <p:sp>
        <p:nvSpPr>
          <p:cNvPr name="Freeform 7" id="7"/>
          <p:cNvSpPr/>
          <p:nvPr/>
        </p:nvSpPr>
        <p:spPr>
          <a:xfrm flipH="false" flipV="false" rot="0">
            <a:off x="1028700" y="2293001"/>
            <a:ext cx="16230600" cy="5700998"/>
          </a:xfrm>
          <a:custGeom>
            <a:avLst/>
            <a:gdLst/>
            <a:ahLst/>
            <a:cxnLst/>
            <a:rect r="r" b="b" t="t" l="l"/>
            <a:pathLst>
              <a:path h="5700998" w="16230600">
                <a:moveTo>
                  <a:pt x="0" y="0"/>
                </a:moveTo>
                <a:lnTo>
                  <a:pt x="16230600" y="0"/>
                </a:lnTo>
                <a:lnTo>
                  <a:pt x="16230600" y="5700998"/>
                </a:lnTo>
                <a:lnTo>
                  <a:pt x="0" y="5700998"/>
                </a:lnTo>
                <a:lnTo>
                  <a:pt x="0" y="0"/>
                </a:lnTo>
                <a:close/>
              </a:path>
            </a:pathLst>
          </a:custGeom>
          <a:blipFill>
            <a:blip r:embed="rId4"/>
            <a:stretch>
              <a:fillRect l="0" t="0" r="0" b="0"/>
            </a:stretch>
          </a:blipFill>
        </p:spPr>
      </p:sp>
      <p:sp>
        <p:nvSpPr>
          <p:cNvPr name="TextBox 8" id="8"/>
          <p:cNvSpPr txBox="true"/>
          <p:nvPr/>
        </p:nvSpPr>
        <p:spPr>
          <a:xfrm rot="0">
            <a:off x="1836946" y="384347"/>
            <a:ext cx="2976317"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9" id="9"/>
          <p:cNvSpPr txBox="true"/>
          <p:nvPr/>
        </p:nvSpPr>
        <p:spPr>
          <a:xfrm rot="0">
            <a:off x="16411862" y="473979"/>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10" id="10"/>
          <p:cNvSpPr txBox="true"/>
          <p:nvPr/>
        </p:nvSpPr>
        <p:spPr>
          <a:xfrm rot="0">
            <a:off x="1335544" y="758554"/>
            <a:ext cx="9712502" cy="1142557"/>
          </a:xfrm>
          <a:prstGeom prst="rect">
            <a:avLst/>
          </a:prstGeom>
        </p:spPr>
        <p:txBody>
          <a:bodyPr anchor="t" rtlCol="false" tIns="0" lIns="0" bIns="0" rIns="0">
            <a:spAutoFit/>
          </a:bodyPr>
          <a:lstStyle/>
          <a:p>
            <a:pPr algn="l">
              <a:lnSpc>
                <a:spcPts val="8509"/>
              </a:lnSpc>
            </a:pPr>
            <a:r>
              <a:rPr lang="en-US" sz="7151" spc="-250" b="true">
                <a:solidFill>
                  <a:srgbClr val="FFFFFF"/>
                </a:solidFill>
                <a:latin typeface="Poppins Ultra-Bold"/>
                <a:ea typeface="Poppins Ultra-Bold"/>
                <a:cs typeface="Poppins Ultra-Bold"/>
                <a:sym typeface="Poppins Ultra-Bold"/>
              </a:rPr>
              <a:t>PCB  LAYOUT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486629"/>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4813263" y="644710"/>
            <a:ext cx="11245160" cy="38381"/>
          </a:xfrm>
          <a:prstGeom prst="line">
            <a:avLst/>
          </a:prstGeom>
          <a:ln cap="flat" w="38100">
            <a:solidFill>
              <a:srgbClr val="FFFFFF"/>
            </a:solidFill>
            <a:prstDash val="solid"/>
            <a:headEnd type="none" len="sm" w="sm"/>
            <a:tailEnd type="none" len="sm" w="sm"/>
          </a:ln>
        </p:spPr>
      </p:sp>
      <p:sp>
        <p:nvSpPr>
          <p:cNvPr name="TextBox 4" id="4"/>
          <p:cNvSpPr txBox="true"/>
          <p:nvPr/>
        </p:nvSpPr>
        <p:spPr>
          <a:xfrm rot="0">
            <a:off x="1836946" y="452870"/>
            <a:ext cx="2976317"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5" id="5"/>
          <p:cNvSpPr txBox="true"/>
          <p:nvPr/>
        </p:nvSpPr>
        <p:spPr>
          <a:xfrm rot="0">
            <a:off x="16411862" y="542503"/>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6" id="6"/>
          <p:cNvSpPr txBox="true"/>
          <p:nvPr/>
        </p:nvSpPr>
        <p:spPr>
          <a:xfrm rot="0">
            <a:off x="1335544" y="1104345"/>
            <a:ext cx="7307054" cy="1142557"/>
          </a:xfrm>
          <a:prstGeom prst="rect">
            <a:avLst/>
          </a:prstGeom>
        </p:spPr>
        <p:txBody>
          <a:bodyPr anchor="t" rtlCol="false" tIns="0" lIns="0" bIns="0" rIns="0">
            <a:spAutoFit/>
          </a:bodyPr>
          <a:lstStyle/>
          <a:p>
            <a:pPr algn="l">
              <a:lnSpc>
                <a:spcPts val="8509"/>
              </a:lnSpc>
            </a:pPr>
            <a:r>
              <a:rPr lang="en-US" sz="7151" spc="-250" b="true">
                <a:solidFill>
                  <a:srgbClr val="FFFFFF"/>
                </a:solidFill>
                <a:latin typeface="Poppins Ultra-Bold"/>
                <a:ea typeface="Poppins Ultra-Bold"/>
                <a:cs typeface="Poppins Ultra-Bold"/>
                <a:sym typeface="Poppins Ultra-Bold"/>
              </a:rPr>
              <a:t>ALGORITHM</a:t>
            </a:r>
          </a:p>
        </p:txBody>
      </p:sp>
      <p:sp>
        <p:nvSpPr>
          <p:cNvPr name="TextBox 7" id="7"/>
          <p:cNvSpPr txBox="true"/>
          <p:nvPr/>
        </p:nvSpPr>
        <p:spPr>
          <a:xfrm rot="0">
            <a:off x="1028700" y="2208402"/>
            <a:ext cx="13792153" cy="7214635"/>
          </a:xfrm>
          <a:prstGeom prst="rect">
            <a:avLst/>
          </a:prstGeom>
        </p:spPr>
        <p:txBody>
          <a:bodyPr anchor="t" rtlCol="false" tIns="0" lIns="0" bIns="0" rIns="0">
            <a:spAutoFit/>
          </a:bodyPr>
          <a:lstStyle/>
          <a:p>
            <a:pPr algn="l" marL="665772" indent="-332886" lvl="1">
              <a:lnSpc>
                <a:spcPts val="5242"/>
              </a:lnSpc>
              <a:buAutoNum type="arabicPeriod" startAt="1"/>
            </a:pPr>
            <a:r>
              <a:rPr lang="en-US" sz="3083">
                <a:solidFill>
                  <a:srgbClr val="FFFFFF">
                    <a:alpha val="71765"/>
                  </a:srgbClr>
                </a:solidFill>
                <a:latin typeface="Poppins"/>
                <a:ea typeface="Poppins"/>
                <a:cs typeface="Poppins"/>
                <a:sym typeface="Poppins"/>
              </a:rPr>
              <a:t>Analog Input Channels: PC0 (LDR), PC1 (TMP), PC2 (MGNT)</a:t>
            </a:r>
          </a:p>
          <a:p>
            <a:pPr algn="l" marL="665772" indent="-332886" lvl="1">
              <a:lnSpc>
                <a:spcPts val="5242"/>
              </a:lnSpc>
              <a:buAutoNum type="arabicPeriod" startAt="1"/>
            </a:pPr>
            <a:r>
              <a:rPr lang="en-US" sz="3083">
                <a:solidFill>
                  <a:srgbClr val="FFFFFF">
                    <a:alpha val="71765"/>
                  </a:srgbClr>
                </a:solidFill>
                <a:latin typeface="Poppins"/>
                <a:ea typeface="Poppins"/>
                <a:cs typeface="Poppins"/>
                <a:sym typeface="Poppins"/>
              </a:rPr>
              <a:t>Display: LCD (I2C via PC4/PC5)</a:t>
            </a:r>
          </a:p>
          <a:p>
            <a:pPr algn="l" marL="665772" indent="-332886" lvl="1">
              <a:lnSpc>
                <a:spcPts val="5242"/>
              </a:lnSpc>
              <a:buAutoNum type="arabicPeriod" startAt="1"/>
            </a:pPr>
            <a:r>
              <a:rPr lang="en-US" sz="3083">
                <a:solidFill>
                  <a:srgbClr val="FFFFFF">
                    <a:alpha val="71765"/>
                  </a:srgbClr>
                </a:solidFill>
                <a:latin typeface="Poppins"/>
                <a:ea typeface="Poppins"/>
                <a:cs typeface="Poppins"/>
                <a:sym typeface="Poppins"/>
              </a:rPr>
              <a:t>Communication: UART (9600 baud via PD0/PD1)</a:t>
            </a:r>
          </a:p>
          <a:p>
            <a:pPr algn="l" marL="665772" indent="-332886" lvl="1">
              <a:lnSpc>
                <a:spcPts val="5242"/>
              </a:lnSpc>
              <a:buAutoNum type="arabicPeriod" startAt="1"/>
            </a:pPr>
            <a:r>
              <a:rPr lang="en-US" sz="3083">
                <a:solidFill>
                  <a:srgbClr val="FFFFFF">
                    <a:alpha val="71765"/>
                  </a:srgbClr>
                </a:solidFill>
                <a:latin typeface="Poppins"/>
                <a:ea typeface="Poppins"/>
                <a:cs typeface="Poppins"/>
                <a:sym typeface="Poppins"/>
              </a:rPr>
              <a:t>Indicators:</a:t>
            </a:r>
          </a:p>
          <a:p>
            <a:pPr algn="just" marL="665772" indent="-332886" lvl="1">
              <a:lnSpc>
                <a:spcPts val="5242"/>
              </a:lnSpc>
              <a:buFont typeface="Arial"/>
              <a:buChar char="•"/>
            </a:pPr>
            <a:r>
              <a:rPr lang="en-US" sz="3083">
                <a:solidFill>
                  <a:srgbClr val="FFFFFF">
                    <a:alpha val="71765"/>
                  </a:srgbClr>
                </a:solidFill>
                <a:latin typeface="Poppins"/>
                <a:ea typeface="Poppins"/>
                <a:cs typeface="Poppins"/>
                <a:sym typeface="Poppins"/>
              </a:rPr>
              <a:t>Green LED (PB6): Normal status</a:t>
            </a:r>
          </a:p>
          <a:p>
            <a:pPr algn="just" marL="665772" indent="-332886" lvl="1">
              <a:lnSpc>
                <a:spcPts val="5242"/>
              </a:lnSpc>
              <a:buFont typeface="Arial"/>
              <a:buChar char="•"/>
            </a:pPr>
            <a:r>
              <a:rPr lang="en-US" sz="3083">
                <a:solidFill>
                  <a:srgbClr val="FFFFFF">
                    <a:alpha val="71765"/>
                  </a:srgbClr>
                </a:solidFill>
                <a:latin typeface="Poppins"/>
                <a:ea typeface="Poppins"/>
                <a:cs typeface="Poppins"/>
                <a:sym typeface="Poppins"/>
              </a:rPr>
              <a:t>Red LED (PB7): Warning condition</a:t>
            </a:r>
          </a:p>
          <a:p>
            <a:pPr algn="l" marL="665772" indent="-332886" lvl="1">
              <a:lnSpc>
                <a:spcPts val="5242"/>
              </a:lnSpc>
              <a:buAutoNum type="arabicPeriod" startAt="1"/>
            </a:pPr>
            <a:r>
              <a:rPr lang="en-US" sz="3083">
                <a:solidFill>
                  <a:srgbClr val="FFFFFF">
                    <a:alpha val="71765"/>
                  </a:srgbClr>
                </a:solidFill>
                <a:latin typeface="Poppins"/>
                <a:ea typeface="Poppins"/>
                <a:cs typeface="Poppins"/>
                <a:sym typeface="Poppins"/>
              </a:rPr>
              <a:t>System Behavior:</a:t>
            </a:r>
          </a:p>
          <a:p>
            <a:pPr algn="l" marL="665772" indent="-332886" lvl="1">
              <a:lnSpc>
                <a:spcPts val="5242"/>
              </a:lnSpc>
              <a:buFont typeface="Arial"/>
              <a:buChar char="•"/>
            </a:pPr>
            <a:r>
              <a:rPr lang="en-US" sz="3083">
                <a:solidFill>
                  <a:srgbClr val="FFFFFF">
                    <a:alpha val="71765"/>
                  </a:srgbClr>
                </a:solidFill>
                <a:latin typeface="Poppins"/>
                <a:ea typeface="Poppins"/>
                <a:cs typeface="Poppins"/>
                <a:sym typeface="Poppins"/>
              </a:rPr>
              <a:t>Reads sensors every 500ms (Timer1 interrupt)</a:t>
            </a:r>
          </a:p>
          <a:p>
            <a:pPr algn="l" marL="665772" indent="-332886" lvl="1">
              <a:lnSpc>
                <a:spcPts val="5242"/>
              </a:lnSpc>
              <a:buFont typeface="Arial"/>
              <a:buChar char="•"/>
            </a:pPr>
            <a:r>
              <a:rPr lang="en-US" sz="3083">
                <a:solidFill>
                  <a:srgbClr val="FFFFFF">
                    <a:alpha val="71765"/>
                  </a:srgbClr>
                </a:solidFill>
                <a:latin typeface="Poppins"/>
                <a:ea typeface="Poppins"/>
                <a:cs typeface="Poppins"/>
                <a:sym typeface="Poppins"/>
              </a:rPr>
              <a:t>Compares values to thresholds</a:t>
            </a:r>
          </a:p>
          <a:p>
            <a:pPr algn="l" marL="665772" indent="-332886" lvl="1">
              <a:lnSpc>
                <a:spcPts val="5242"/>
              </a:lnSpc>
              <a:buFont typeface="Arial"/>
              <a:buChar char="•"/>
            </a:pPr>
            <a:r>
              <a:rPr lang="en-US" sz="3083">
                <a:solidFill>
                  <a:srgbClr val="FFFFFF">
                    <a:alpha val="71765"/>
                  </a:srgbClr>
                </a:solidFill>
                <a:latin typeface="Poppins"/>
                <a:ea typeface="Poppins"/>
                <a:cs typeface="Poppins"/>
                <a:sym typeface="Poppins"/>
              </a:rPr>
              <a:t>Updates LCD and LEDs accordingly</a:t>
            </a:r>
          </a:p>
          <a:p>
            <a:pPr algn="l" marL="665772" indent="-332886" lvl="1">
              <a:lnSpc>
                <a:spcPts val="5242"/>
              </a:lnSpc>
              <a:spcBef>
                <a:spcPct val="0"/>
              </a:spcBef>
              <a:buFont typeface="Arial"/>
              <a:buChar char="•"/>
            </a:pPr>
            <a:r>
              <a:rPr lang="en-US" sz="3083">
                <a:solidFill>
                  <a:srgbClr val="FFFFFF">
                    <a:alpha val="71765"/>
                  </a:srgbClr>
                </a:solidFill>
                <a:latin typeface="Poppins"/>
                <a:ea typeface="Poppins"/>
                <a:cs typeface="Poppins"/>
                <a:sym typeface="Poppins"/>
              </a:rPr>
              <a:t>Transmits data over UART</a:t>
            </a:r>
          </a:p>
        </p:txBody>
      </p:sp>
      <p:sp>
        <p:nvSpPr>
          <p:cNvPr name="Freeform 8" id="8"/>
          <p:cNvSpPr/>
          <p:nvPr/>
        </p:nvSpPr>
        <p:spPr>
          <a:xfrm flipH="false" flipV="false" rot="0">
            <a:off x="15398668" y="2389377"/>
            <a:ext cx="3721264" cy="1867398"/>
          </a:xfrm>
          <a:custGeom>
            <a:avLst/>
            <a:gdLst/>
            <a:ahLst/>
            <a:cxnLst/>
            <a:rect r="r" b="b" t="t" l="l"/>
            <a:pathLst>
              <a:path h="1867398" w="3721264">
                <a:moveTo>
                  <a:pt x="0" y="0"/>
                </a:moveTo>
                <a:lnTo>
                  <a:pt x="3721264" y="0"/>
                </a:lnTo>
                <a:lnTo>
                  <a:pt x="3721264" y="1867398"/>
                </a:lnTo>
                <a:lnTo>
                  <a:pt x="0" y="1867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110083"/>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4756389" y="1306545"/>
            <a:ext cx="11302034" cy="15960"/>
          </a:xfrm>
          <a:prstGeom prst="line">
            <a:avLst/>
          </a:prstGeom>
          <a:ln cap="flat" w="38100">
            <a:solidFill>
              <a:srgbClr val="FFFFFF"/>
            </a:solidFill>
            <a:prstDash val="solid"/>
            <a:headEnd type="none" len="sm" w="sm"/>
            <a:tailEnd type="none" len="sm" w="sm"/>
          </a:ln>
        </p:spPr>
      </p:sp>
      <p:sp>
        <p:nvSpPr>
          <p:cNvPr name="TextBox 4" id="4"/>
          <p:cNvSpPr txBox="true"/>
          <p:nvPr/>
        </p:nvSpPr>
        <p:spPr>
          <a:xfrm rot="0">
            <a:off x="1836946" y="1076325"/>
            <a:ext cx="2976317"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5" id="5"/>
          <p:cNvSpPr txBox="true"/>
          <p:nvPr/>
        </p:nvSpPr>
        <p:spPr>
          <a:xfrm rot="0">
            <a:off x="16411862" y="1165957"/>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6" id="6"/>
          <p:cNvSpPr txBox="true"/>
          <p:nvPr/>
        </p:nvSpPr>
        <p:spPr>
          <a:xfrm rot="0">
            <a:off x="1335544" y="1727799"/>
            <a:ext cx="13264822" cy="1142557"/>
          </a:xfrm>
          <a:prstGeom prst="rect">
            <a:avLst/>
          </a:prstGeom>
        </p:spPr>
        <p:txBody>
          <a:bodyPr anchor="t" rtlCol="false" tIns="0" lIns="0" bIns="0" rIns="0">
            <a:spAutoFit/>
          </a:bodyPr>
          <a:lstStyle/>
          <a:p>
            <a:pPr algn="l">
              <a:lnSpc>
                <a:spcPts val="8509"/>
              </a:lnSpc>
            </a:pPr>
            <a:r>
              <a:rPr lang="en-US" sz="7151" spc="-250" b="true">
                <a:solidFill>
                  <a:srgbClr val="FFFFFF"/>
                </a:solidFill>
                <a:latin typeface="Poppins Ultra-Bold"/>
                <a:ea typeface="Poppins Ultra-Bold"/>
                <a:cs typeface="Poppins Ultra-Bold"/>
                <a:sym typeface="Poppins Ultra-Bold"/>
              </a:rPr>
              <a:t>CHALLENGES &amp; SOLUTIONS</a:t>
            </a:r>
          </a:p>
        </p:txBody>
      </p:sp>
      <p:sp>
        <p:nvSpPr>
          <p:cNvPr name="TextBox 7" id="7"/>
          <p:cNvSpPr txBox="true"/>
          <p:nvPr/>
        </p:nvSpPr>
        <p:spPr>
          <a:xfrm rot="0">
            <a:off x="1028700" y="2917981"/>
            <a:ext cx="16230600" cy="5910627"/>
          </a:xfrm>
          <a:prstGeom prst="rect">
            <a:avLst/>
          </a:prstGeom>
        </p:spPr>
        <p:txBody>
          <a:bodyPr anchor="t" rtlCol="false" tIns="0" lIns="0" bIns="0" rIns="0">
            <a:spAutoFit/>
          </a:bodyPr>
          <a:lstStyle/>
          <a:p>
            <a:pPr algn="l" marL="856964" indent="-428482" lvl="1">
              <a:lnSpc>
                <a:spcPts val="6747"/>
              </a:lnSpc>
              <a:buFont typeface="Arial"/>
              <a:buChar char="•"/>
            </a:pPr>
            <a:r>
              <a:rPr lang="en-US" b="true" sz="3969">
                <a:solidFill>
                  <a:srgbClr val="FFFFFF">
                    <a:alpha val="71765"/>
                  </a:srgbClr>
                </a:solidFill>
                <a:latin typeface="Poppins Bold"/>
                <a:ea typeface="Poppins Bold"/>
                <a:cs typeface="Poppins Bold"/>
                <a:sym typeface="Poppins Bold"/>
              </a:rPr>
              <a:t>Signal Attenuation </a:t>
            </a:r>
            <a:r>
              <a:rPr lang="en-US" sz="3969">
                <a:solidFill>
                  <a:srgbClr val="FFFFFF">
                    <a:alpha val="71765"/>
                  </a:srgbClr>
                </a:solidFill>
                <a:latin typeface="Poppins"/>
                <a:ea typeface="Poppins"/>
                <a:cs typeface="Poppins"/>
                <a:sym typeface="Poppins"/>
              </a:rPr>
              <a:t>: Place the microcontroller close to the sensor and apply signal conditioning.</a:t>
            </a:r>
          </a:p>
          <a:p>
            <a:pPr algn="l" marL="856964" indent="-428482" lvl="1">
              <a:lnSpc>
                <a:spcPts val="6747"/>
              </a:lnSpc>
              <a:buFont typeface="Arial"/>
              <a:buChar char="•"/>
            </a:pPr>
            <a:r>
              <a:rPr lang="en-US" sz="3969">
                <a:solidFill>
                  <a:srgbClr val="FFFFFF">
                    <a:alpha val="71765"/>
                  </a:srgbClr>
                </a:solidFill>
                <a:latin typeface="Poppins"/>
                <a:ea typeface="Poppins"/>
                <a:cs typeface="Poppins"/>
                <a:sym typeface="Poppins"/>
              </a:rPr>
              <a:t> </a:t>
            </a:r>
            <a:r>
              <a:rPr lang="en-US" b="true" sz="3969">
                <a:solidFill>
                  <a:srgbClr val="FFFFFF">
                    <a:alpha val="71765"/>
                  </a:srgbClr>
                </a:solidFill>
                <a:latin typeface="Poppins Bold"/>
                <a:ea typeface="Poppins Bold"/>
                <a:cs typeface="Poppins Bold"/>
                <a:sym typeface="Poppins Bold"/>
              </a:rPr>
              <a:t>USB Stability:</a:t>
            </a:r>
            <a:r>
              <a:rPr lang="en-US" sz="3969">
                <a:solidFill>
                  <a:srgbClr val="FFFFFF">
                    <a:alpha val="71765"/>
                  </a:srgbClr>
                </a:solidFill>
                <a:latin typeface="Poppins"/>
                <a:ea typeface="Poppins"/>
                <a:cs typeface="Poppins"/>
                <a:sym typeface="Poppins"/>
              </a:rPr>
              <a:t> ESD clamp diodes + Pi-Filter .</a:t>
            </a:r>
          </a:p>
          <a:p>
            <a:pPr algn="l" marL="856964" indent="-428482" lvl="1">
              <a:lnSpc>
                <a:spcPts val="6747"/>
              </a:lnSpc>
              <a:buFont typeface="Arial"/>
              <a:buChar char="•"/>
            </a:pPr>
            <a:r>
              <a:rPr lang="en-US" b="true" sz="3969">
                <a:solidFill>
                  <a:srgbClr val="FFFFFF">
                    <a:alpha val="71765"/>
                  </a:srgbClr>
                </a:solidFill>
                <a:latin typeface="Poppins Bold"/>
                <a:ea typeface="Poppins Bold"/>
                <a:cs typeface="Poppins Bold"/>
                <a:sym typeface="Poppins Bold"/>
              </a:rPr>
              <a:t>Power Budget:</a:t>
            </a:r>
            <a:r>
              <a:rPr lang="en-US" sz="3969">
                <a:solidFill>
                  <a:srgbClr val="FFFFFF">
                    <a:alpha val="71765"/>
                  </a:srgbClr>
                </a:solidFill>
                <a:latin typeface="Poppins"/>
                <a:ea typeface="Poppins"/>
                <a:cs typeface="Poppins"/>
                <a:sym typeface="Poppins"/>
              </a:rPr>
              <a:t> Optimized LDOs.</a:t>
            </a:r>
          </a:p>
          <a:p>
            <a:pPr algn="l" marL="856964" indent="-428482" lvl="1">
              <a:lnSpc>
                <a:spcPts val="6747"/>
              </a:lnSpc>
              <a:buFont typeface="Arial"/>
              <a:buChar char="•"/>
            </a:pPr>
            <a:r>
              <a:rPr lang="en-US" b="true" sz="3969">
                <a:solidFill>
                  <a:srgbClr val="FFFFFF">
                    <a:alpha val="71765"/>
                  </a:srgbClr>
                </a:solidFill>
                <a:latin typeface="Poppins Bold"/>
                <a:ea typeface="Poppins Bold"/>
                <a:cs typeface="Poppins Bold"/>
                <a:sym typeface="Poppins Bold"/>
              </a:rPr>
              <a:t>Calibration Drift: </a:t>
            </a:r>
            <a:r>
              <a:rPr lang="en-US" sz="3969">
                <a:solidFill>
                  <a:srgbClr val="FFFFFF">
                    <a:alpha val="71765"/>
                  </a:srgbClr>
                </a:solidFill>
                <a:latin typeface="Poppins"/>
                <a:ea typeface="Poppins"/>
                <a:cs typeface="Poppins"/>
                <a:sym typeface="Poppins"/>
              </a:rPr>
              <a:t>Add temperature compensation using a temperature sensor and software correction.</a:t>
            </a:r>
          </a:p>
          <a:p>
            <a:pPr algn="l">
              <a:lnSpc>
                <a:spcPts val="6747"/>
              </a:lnSpc>
              <a:spcBef>
                <a:spcPct val="0"/>
              </a:spcBef>
            </a:pPr>
          </a:p>
        </p:txBody>
      </p:sp>
      <p:grpSp>
        <p:nvGrpSpPr>
          <p:cNvPr name="Group 8" id="8"/>
          <p:cNvGrpSpPr/>
          <p:nvPr/>
        </p:nvGrpSpPr>
        <p:grpSpPr>
          <a:xfrm rot="0">
            <a:off x="-990796" y="9258300"/>
            <a:ext cx="18250096" cy="1881172"/>
            <a:chOff x="0" y="0"/>
            <a:chExt cx="4806610" cy="495453"/>
          </a:xfrm>
        </p:grpSpPr>
        <p:sp>
          <p:nvSpPr>
            <p:cNvPr name="Freeform 9" id="9"/>
            <p:cNvSpPr/>
            <p:nvPr/>
          </p:nvSpPr>
          <p:spPr>
            <a:xfrm flipH="false" flipV="false" rot="0">
              <a:off x="0" y="0"/>
              <a:ext cx="4806610" cy="495453"/>
            </a:xfrm>
            <a:custGeom>
              <a:avLst/>
              <a:gdLst/>
              <a:ahLst/>
              <a:cxnLst/>
              <a:rect r="r" b="b" t="t" l="l"/>
              <a:pathLst>
                <a:path h="495453" w="4806610">
                  <a:moveTo>
                    <a:pt x="42421" y="0"/>
                  </a:moveTo>
                  <a:lnTo>
                    <a:pt x="4764189" y="0"/>
                  </a:lnTo>
                  <a:cubicBezTo>
                    <a:pt x="4775439" y="0"/>
                    <a:pt x="4786229" y="4469"/>
                    <a:pt x="4794185" y="12425"/>
                  </a:cubicBezTo>
                  <a:cubicBezTo>
                    <a:pt x="4802140" y="20380"/>
                    <a:pt x="4806610" y="31170"/>
                    <a:pt x="4806610" y="42421"/>
                  </a:cubicBezTo>
                  <a:lnTo>
                    <a:pt x="4806610" y="453031"/>
                  </a:lnTo>
                  <a:cubicBezTo>
                    <a:pt x="4806610" y="464282"/>
                    <a:pt x="4802140" y="475072"/>
                    <a:pt x="4794185" y="483028"/>
                  </a:cubicBezTo>
                  <a:cubicBezTo>
                    <a:pt x="4786229" y="490983"/>
                    <a:pt x="4775439" y="495453"/>
                    <a:pt x="4764189" y="495453"/>
                  </a:cubicBezTo>
                  <a:lnTo>
                    <a:pt x="42421" y="495453"/>
                  </a:lnTo>
                  <a:cubicBezTo>
                    <a:pt x="31170" y="495453"/>
                    <a:pt x="20380" y="490983"/>
                    <a:pt x="12425" y="483028"/>
                  </a:cubicBezTo>
                  <a:cubicBezTo>
                    <a:pt x="4469" y="475072"/>
                    <a:pt x="0" y="464282"/>
                    <a:pt x="0" y="453031"/>
                  </a:cubicBezTo>
                  <a:lnTo>
                    <a:pt x="0" y="42421"/>
                  </a:lnTo>
                  <a:cubicBezTo>
                    <a:pt x="0" y="31170"/>
                    <a:pt x="4469" y="20380"/>
                    <a:pt x="12425" y="12425"/>
                  </a:cubicBezTo>
                  <a:cubicBezTo>
                    <a:pt x="20380" y="4469"/>
                    <a:pt x="31170" y="0"/>
                    <a:pt x="42421" y="0"/>
                  </a:cubicBezTo>
                  <a:close/>
                </a:path>
              </a:pathLst>
            </a:custGeom>
            <a:solidFill>
              <a:srgbClr val="FFFFFF"/>
            </a:solidFill>
            <a:ln w="38100" cap="rnd">
              <a:solidFill>
                <a:srgbClr val="1C0140"/>
              </a:solidFill>
              <a:prstDash val="solid"/>
              <a:round/>
            </a:ln>
          </p:spPr>
        </p:sp>
        <p:sp>
          <p:nvSpPr>
            <p:cNvPr name="TextBox 10" id="10"/>
            <p:cNvSpPr txBox="true"/>
            <p:nvPr/>
          </p:nvSpPr>
          <p:spPr>
            <a:xfrm>
              <a:off x="0" y="-57150"/>
              <a:ext cx="4806610" cy="552603"/>
            </a:xfrm>
            <a:prstGeom prst="rect">
              <a:avLst/>
            </a:prstGeom>
          </p:spPr>
          <p:txBody>
            <a:bodyPr anchor="ctr" rtlCol="false" tIns="50800" lIns="50800" bIns="50800" rIns="50800"/>
            <a:lstStyle/>
            <a:p>
              <a:pPr algn="ctr">
                <a:lnSpc>
                  <a:spcPts val="2867"/>
                </a:lnSpc>
              </a:pPr>
            </a:p>
          </p:txBody>
        </p:sp>
      </p:grpSp>
      <p:sp>
        <p:nvSpPr>
          <p:cNvPr name="Freeform 11" id="11"/>
          <p:cNvSpPr/>
          <p:nvPr/>
        </p:nvSpPr>
        <p:spPr>
          <a:xfrm flipH="false" flipV="false" rot="0">
            <a:off x="15262240" y="6369923"/>
            <a:ext cx="6051521" cy="3828962"/>
          </a:xfrm>
          <a:custGeom>
            <a:avLst/>
            <a:gdLst/>
            <a:ahLst/>
            <a:cxnLst/>
            <a:rect r="r" b="b" t="t" l="l"/>
            <a:pathLst>
              <a:path h="3828962" w="6051521">
                <a:moveTo>
                  <a:pt x="0" y="0"/>
                </a:moveTo>
                <a:lnTo>
                  <a:pt x="6051520" y="0"/>
                </a:lnTo>
                <a:lnTo>
                  <a:pt x="6051520" y="3828963"/>
                </a:lnTo>
                <a:lnTo>
                  <a:pt x="0" y="38289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110083"/>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4756389" y="1306545"/>
            <a:ext cx="11302034" cy="15960"/>
          </a:xfrm>
          <a:prstGeom prst="line">
            <a:avLst/>
          </a:prstGeom>
          <a:ln cap="flat" w="38100">
            <a:solidFill>
              <a:srgbClr val="FFFFFF"/>
            </a:solidFill>
            <a:prstDash val="solid"/>
            <a:headEnd type="none" len="sm" w="sm"/>
            <a:tailEnd type="none" len="sm" w="sm"/>
          </a:ln>
        </p:spPr>
      </p:sp>
      <p:sp>
        <p:nvSpPr>
          <p:cNvPr name="TextBox 4" id="4"/>
          <p:cNvSpPr txBox="true"/>
          <p:nvPr/>
        </p:nvSpPr>
        <p:spPr>
          <a:xfrm rot="0">
            <a:off x="1836946" y="1076325"/>
            <a:ext cx="2976317"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5" id="5"/>
          <p:cNvSpPr txBox="true"/>
          <p:nvPr/>
        </p:nvSpPr>
        <p:spPr>
          <a:xfrm rot="0">
            <a:off x="16411862" y="1165957"/>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
        <p:nvSpPr>
          <p:cNvPr name="TextBox 6" id="6"/>
          <p:cNvSpPr txBox="true"/>
          <p:nvPr/>
        </p:nvSpPr>
        <p:spPr>
          <a:xfrm rot="0">
            <a:off x="1335544" y="1727799"/>
            <a:ext cx="13264822" cy="1142557"/>
          </a:xfrm>
          <a:prstGeom prst="rect">
            <a:avLst/>
          </a:prstGeom>
        </p:spPr>
        <p:txBody>
          <a:bodyPr anchor="t" rtlCol="false" tIns="0" lIns="0" bIns="0" rIns="0">
            <a:spAutoFit/>
          </a:bodyPr>
          <a:lstStyle/>
          <a:p>
            <a:pPr algn="l">
              <a:lnSpc>
                <a:spcPts val="8509"/>
              </a:lnSpc>
            </a:pPr>
            <a:r>
              <a:rPr lang="en-US" sz="7151" spc="-250" b="true">
                <a:solidFill>
                  <a:srgbClr val="FFFFFF"/>
                </a:solidFill>
                <a:latin typeface="Poppins Ultra-Bold"/>
                <a:ea typeface="Poppins Ultra-Bold"/>
                <a:cs typeface="Poppins Ultra-Bold"/>
                <a:sym typeface="Poppins Ultra-Bold"/>
              </a:rPr>
              <a:t>CONCLUSION</a:t>
            </a:r>
          </a:p>
        </p:txBody>
      </p:sp>
      <p:sp>
        <p:nvSpPr>
          <p:cNvPr name="TextBox 7" id="7"/>
          <p:cNvSpPr txBox="true"/>
          <p:nvPr/>
        </p:nvSpPr>
        <p:spPr>
          <a:xfrm rot="0">
            <a:off x="1028700" y="3032281"/>
            <a:ext cx="15383162" cy="5078775"/>
          </a:xfrm>
          <a:prstGeom prst="rect">
            <a:avLst/>
          </a:prstGeom>
        </p:spPr>
        <p:txBody>
          <a:bodyPr anchor="t" rtlCol="false" tIns="0" lIns="0" bIns="0" rIns="0">
            <a:spAutoFit/>
          </a:bodyPr>
          <a:lstStyle/>
          <a:p>
            <a:pPr algn="l">
              <a:lnSpc>
                <a:spcPts val="5047"/>
              </a:lnSpc>
              <a:spcBef>
                <a:spcPct val="0"/>
              </a:spcBef>
            </a:pPr>
            <a:r>
              <a:rPr lang="en-US" sz="2969">
                <a:solidFill>
                  <a:srgbClr val="FFFFFF">
                    <a:alpha val="71765"/>
                  </a:srgbClr>
                </a:solidFill>
                <a:latin typeface="Poppins"/>
                <a:ea typeface="Poppins"/>
                <a:cs typeface="Poppins"/>
                <a:sym typeface="Poppins"/>
              </a:rPr>
              <a:t>This MCU-based analog sensing device integrates light, temperature, and magnetic field sensors to enable real-time environmental monitoring. It is ideal for use in telecommunication base</a:t>
            </a:r>
            <a:r>
              <a:rPr lang="en-US" sz="2969">
                <a:solidFill>
                  <a:srgbClr val="FFFFFF">
                    <a:alpha val="71765"/>
                  </a:srgbClr>
                </a:solidFill>
                <a:latin typeface="Poppins"/>
                <a:ea typeface="Poppins"/>
                <a:cs typeface="Poppins"/>
                <a:sym typeface="Poppins"/>
              </a:rPr>
              <a:t> stations, where environmental factors affect signal quality and amplifier performance. By analyzing sensor data, the system can dynamically adjust amplifier gain for optimal operation. Its design includes robust power management, ESD protection, and modular expandability. This makes it a reliable and scalable solution for smart infrastructure and automated control systems.</a:t>
            </a:r>
          </a:p>
        </p:txBody>
      </p:sp>
      <p:grpSp>
        <p:nvGrpSpPr>
          <p:cNvPr name="Group 8" id="8"/>
          <p:cNvGrpSpPr/>
          <p:nvPr/>
        </p:nvGrpSpPr>
        <p:grpSpPr>
          <a:xfrm rot="0">
            <a:off x="-990796" y="9258300"/>
            <a:ext cx="18250096" cy="1881172"/>
            <a:chOff x="0" y="0"/>
            <a:chExt cx="4806610" cy="495453"/>
          </a:xfrm>
        </p:grpSpPr>
        <p:sp>
          <p:nvSpPr>
            <p:cNvPr name="Freeform 9" id="9"/>
            <p:cNvSpPr/>
            <p:nvPr/>
          </p:nvSpPr>
          <p:spPr>
            <a:xfrm flipH="false" flipV="false" rot="0">
              <a:off x="0" y="0"/>
              <a:ext cx="4806610" cy="495453"/>
            </a:xfrm>
            <a:custGeom>
              <a:avLst/>
              <a:gdLst/>
              <a:ahLst/>
              <a:cxnLst/>
              <a:rect r="r" b="b" t="t" l="l"/>
              <a:pathLst>
                <a:path h="495453" w="4806610">
                  <a:moveTo>
                    <a:pt x="42421" y="0"/>
                  </a:moveTo>
                  <a:lnTo>
                    <a:pt x="4764189" y="0"/>
                  </a:lnTo>
                  <a:cubicBezTo>
                    <a:pt x="4775439" y="0"/>
                    <a:pt x="4786229" y="4469"/>
                    <a:pt x="4794185" y="12425"/>
                  </a:cubicBezTo>
                  <a:cubicBezTo>
                    <a:pt x="4802140" y="20380"/>
                    <a:pt x="4806610" y="31170"/>
                    <a:pt x="4806610" y="42421"/>
                  </a:cubicBezTo>
                  <a:lnTo>
                    <a:pt x="4806610" y="453031"/>
                  </a:lnTo>
                  <a:cubicBezTo>
                    <a:pt x="4806610" y="464282"/>
                    <a:pt x="4802140" y="475072"/>
                    <a:pt x="4794185" y="483028"/>
                  </a:cubicBezTo>
                  <a:cubicBezTo>
                    <a:pt x="4786229" y="490983"/>
                    <a:pt x="4775439" y="495453"/>
                    <a:pt x="4764189" y="495453"/>
                  </a:cubicBezTo>
                  <a:lnTo>
                    <a:pt x="42421" y="495453"/>
                  </a:lnTo>
                  <a:cubicBezTo>
                    <a:pt x="31170" y="495453"/>
                    <a:pt x="20380" y="490983"/>
                    <a:pt x="12425" y="483028"/>
                  </a:cubicBezTo>
                  <a:cubicBezTo>
                    <a:pt x="4469" y="475072"/>
                    <a:pt x="0" y="464282"/>
                    <a:pt x="0" y="453031"/>
                  </a:cubicBezTo>
                  <a:lnTo>
                    <a:pt x="0" y="42421"/>
                  </a:lnTo>
                  <a:cubicBezTo>
                    <a:pt x="0" y="31170"/>
                    <a:pt x="4469" y="20380"/>
                    <a:pt x="12425" y="12425"/>
                  </a:cubicBezTo>
                  <a:cubicBezTo>
                    <a:pt x="20380" y="4469"/>
                    <a:pt x="31170" y="0"/>
                    <a:pt x="42421" y="0"/>
                  </a:cubicBezTo>
                  <a:close/>
                </a:path>
              </a:pathLst>
            </a:custGeom>
            <a:solidFill>
              <a:srgbClr val="FFFFFF"/>
            </a:solidFill>
            <a:ln w="38100" cap="rnd">
              <a:solidFill>
                <a:srgbClr val="1C0140"/>
              </a:solidFill>
              <a:prstDash val="solid"/>
              <a:round/>
            </a:ln>
          </p:spPr>
        </p:sp>
        <p:sp>
          <p:nvSpPr>
            <p:cNvPr name="TextBox 10" id="10"/>
            <p:cNvSpPr txBox="true"/>
            <p:nvPr/>
          </p:nvSpPr>
          <p:spPr>
            <a:xfrm>
              <a:off x="0" y="-57150"/>
              <a:ext cx="4806610" cy="552603"/>
            </a:xfrm>
            <a:prstGeom prst="rect">
              <a:avLst/>
            </a:prstGeom>
          </p:spPr>
          <p:txBody>
            <a:bodyPr anchor="ctr" rtlCol="false" tIns="50800" lIns="50800" bIns="50800" rIns="50800"/>
            <a:lstStyle/>
            <a:p>
              <a:pPr algn="ctr">
                <a:lnSpc>
                  <a:spcPts val="2867"/>
                </a:lnSpc>
              </a:pPr>
            </a:p>
          </p:txBody>
        </p:sp>
      </p:grpSp>
      <p:sp>
        <p:nvSpPr>
          <p:cNvPr name="Freeform 11" id="11"/>
          <p:cNvSpPr/>
          <p:nvPr/>
        </p:nvSpPr>
        <p:spPr>
          <a:xfrm flipH="false" flipV="false" rot="0">
            <a:off x="15262240" y="6369923"/>
            <a:ext cx="6051521" cy="3828962"/>
          </a:xfrm>
          <a:custGeom>
            <a:avLst/>
            <a:gdLst/>
            <a:ahLst/>
            <a:cxnLst/>
            <a:rect r="r" b="b" t="t" l="l"/>
            <a:pathLst>
              <a:path h="3828962" w="6051521">
                <a:moveTo>
                  <a:pt x="0" y="0"/>
                </a:moveTo>
                <a:lnTo>
                  <a:pt x="6051520" y="0"/>
                </a:lnTo>
                <a:lnTo>
                  <a:pt x="6051520" y="3828963"/>
                </a:lnTo>
                <a:lnTo>
                  <a:pt x="0" y="38289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76BE9">
                <a:alpha val="100000"/>
              </a:srgbClr>
            </a:gs>
            <a:gs pos="100000">
              <a:srgbClr val="0D379B">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028700" y="2625707"/>
            <a:ext cx="16230600" cy="3483698"/>
          </a:xfrm>
          <a:prstGeom prst="rect">
            <a:avLst/>
          </a:prstGeom>
        </p:spPr>
        <p:txBody>
          <a:bodyPr anchor="t" rtlCol="false" tIns="0" lIns="0" bIns="0" rIns="0">
            <a:spAutoFit/>
          </a:bodyPr>
          <a:lstStyle/>
          <a:p>
            <a:pPr algn="ctr">
              <a:lnSpc>
                <a:spcPts val="25867"/>
              </a:lnSpc>
            </a:pPr>
            <a:r>
              <a:rPr lang="en-US" b="true" sz="21737" spc="-760">
                <a:solidFill>
                  <a:srgbClr val="FFFFFF"/>
                </a:solidFill>
                <a:latin typeface="Poppins Bold"/>
                <a:ea typeface="Poppins Bold"/>
                <a:cs typeface="Poppins Bold"/>
                <a:sym typeface="Poppins Bold"/>
              </a:rPr>
              <a:t>Thank You</a:t>
            </a:r>
          </a:p>
        </p:txBody>
      </p:sp>
      <p:sp>
        <p:nvSpPr>
          <p:cNvPr name="Freeform 3" id="3"/>
          <p:cNvSpPr/>
          <p:nvPr/>
        </p:nvSpPr>
        <p:spPr>
          <a:xfrm flipH="false" flipV="false" rot="0">
            <a:off x="1028700" y="1110083"/>
            <a:ext cx="613689" cy="354824"/>
          </a:xfrm>
          <a:custGeom>
            <a:avLst/>
            <a:gdLst/>
            <a:ahLst/>
            <a:cxnLst/>
            <a:rect r="r" b="b" t="t" l="l"/>
            <a:pathLst>
              <a:path h="354824" w="613689">
                <a:moveTo>
                  <a:pt x="0" y="0"/>
                </a:moveTo>
                <a:lnTo>
                  <a:pt x="613689" y="0"/>
                </a:lnTo>
                <a:lnTo>
                  <a:pt x="613689" y="354824"/>
                </a:lnTo>
                <a:lnTo>
                  <a:pt x="0" y="354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4855243" y="1306545"/>
            <a:ext cx="11203180" cy="15960"/>
          </a:xfrm>
          <a:prstGeom prst="line">
            <a:avLst/>
          </a:prstGeom>
          <a:ln cap="flat" w="38100">
            <a:solidFill>
              <a:srgbClr val="FFFFFF"/>
            </a:solidFill>
            <a:prstDash val="solid"/>
            <a:headEnd type="none" len="sm" w="sm"/>
            <a:tailEnd type="none" len="sm" w="sm"/>
          </a:ln>
        </p:spPr>
      </p:sp>
      <p:grpSp>
        <p:nvGrpSpPr>
          <p:cNvPr name="Group 5" id="5"/>
          <p:cNvGrpSpPr/>
          <p:nvPr/>
        </p:nvGrpSpPr>
        <p:grpSpPr>
          <a:xfrm rot="0">
            <a:off x="-990796" y="9258300"/>
            <a:ext cx="19278796" cy="1987207"/>
            <a:chOff x="0" y="0"/>
            <a:chExt cx="5077543" cy="523380"/>
          </a:xfrm>
        </p:grpSpPr>
        <p:sp>
          <p:nvSpPr>
            <p:cNvPr name="Freeform 6" id="6"/>
            <p:cNvSpPr/>
            <p:nvPr/>
          </p:nvSpPr>
          <p:spPr>
            <a:xfrm flipH="false" flipV="false" rot="0">
              <a:off x="0" y="0"/>
              <a:ext cx="5077543" cy="523380"/>
            </a:xfrm>
            <a:custGeom>
              <a:avLst/>
              <a:gdLst/>
              <a:ahLst/>
              <a:cxnLst/>
              <a:rect r="r" b="b" t="t" l="l"/>
              <a:pathLst>
                <a:path h="523380" w="5077543">
                  <a:moveTo>
                    <a:pt x="40158" y="0"/>
                  </a:moveTo>
                  <a:lnTo>
                    <a:pt x="5037385" y="0"/>
                  </a:lnTo>
                  <a:cubicBezTo>
                    <a:pt x="5059564" y="0"/>
                    <a:pt x="5077543" y="17979"/>
                    <a:pt x="5077543" y="40158"/>
                  </a:cubicBezTo>
                  <a:lnTo>
                    <a:pt x="5077543" y="483222"/>
                  </a:lnTo>
                  <a:cubicBezTo>
                    <a:pt x="5077543" y="505400"/>
                    <a:pt x="5059564" y="523380"/>
                    <a:pt x="5037385" y="523380"/>
                  </a:cubicBezTo>
                  <a:lnTo>
                    <a:pt x="40158" y="523380"/>
                  </a:lnTo>
                  <a:cubicBezTo>
                    <a:pt x="17979" y="523380"/>
                    <a:pt x="0" y="505400"/>
                    <a:pt x="0" y="483222"/>
                  </a:cubicBezTo>
                  <a:lnTo>
                    <a:pt x="0" y="40158"/>
                  </a:lnTo>
                  <a:cubicBezTo>
                    <a:pt x="0" y="17979"/>
                    <a:pt x="17979" y="0"/>
                    <a:pt x="40158" y="0"/>
                  </a:cubicBezTo>
                  <a:close/>
                </a:path>
              </a:pathLst>
            </a:custGeom>
            <a:solidFill>
              <a:srgbClr val="FFFFFF"/>
            </a:solidFill>
            <a:ln w="38100" cap="rnd">
              <a:solidFill>
                <a:srgbClr val="1C0140"/>
              </a:solidFill>
              <a:prstDash val="solid"/>
              <a:round/>
            </a:ln>
          </p:spPr>
        </p:sp>
        <p:sp>
          <p:nvSpPr>
            <p:cNvPr name="TextBox 7" id="7"/>
            <p:cNvSpPr txBox="true"/>
            <p:nvPr/>
          </p:nvSpPr>
          <p:spPr>
            <a:xfrm>
              <a:off x="0" y="-57150"/>
              <a:ext cx="5077543" cy="580530"/>
            </a:xfrm>
            <a:prstGeom prst="rect">
              <a:avLst/>
            </a:prstGeom>
          </p:spPr>
          <p:txBody>
            <a:bodyPr anchor="ctr" rtlCol="false" tIns="50800" lIns="50800" bIns="50800" rIns="50800"/>
            <a:lstStyle/>
            <a:p>
              <a:pPr algn="ctr">
                <a:lnSpc>
                  <a:spcPts val="2867"/>
                </a:lnSpc>
              </a:pPr>
            </a:p>
          </p:txBody>
        </p:sp>
      </p:grpSp>
      <p:sp>
        <p:nvSpPr>
          <p:cNvPr name="TextBox 8" id="8"/>
          <p:cNvSpPr txBox="true"/>
          <p:nvPr/>
        </p:nvSpPr>
        <p:spPr>
          <a:xfrm rot="0">
            <a:off x="3943534" y="6335716"/>
            <a:ext cx="10400931" cy="407123"/>
          </a:xfrm>
          <a:prstGeom prst="rect">
            <a:avLst/>
          </a:prstGeom>
        </p:spPr>
        <p:txBody>
          <a:bodyPr anchor="t" rtlCol="false" tIns="0" lIns="0" bIns="0" rIns="0">
            <a:spAutoFit/>
          </a:bodyPr>
          <a:lstStyle/>
          <a:p>
            <a:pPr algn="ctr">
              <a:lnSpc>
                <a:spcPts val="3150"/>
              </a:lnSpc>
            </a:pPr>
            <a:r>
              <a:rPr lang="en-US" sz="2250" spc="837">
                <a:solidFill>
                  <a:srgbClr val="FFFFFF"/>
                </a:solidFill>
                <a:latin typeface="Poppins"/>
                <a:ea typeface="Poppins"/>
                <a:cs typeface="Poppins"/>
                <a:sym typeface="Poppins"/>
              </a:rPr>
              <a:t>KAGOMA TECH 2025</a:t>
            </a:r>
          </a:p>
        </p:txBody>
      </p:sp>
      <p:sp>
        <p:nvSpPr>
          <p:cNvPr name="TextBox 9" id="9"/>
          <p:cNvSpPr txBox="true"/>
          <p:nvPr/>
        </p:nvSpPr>
        <p:spPr>
          <a:xfrm rot="0">
            <a:off x="1836946" y="1076325"/>
            <a:ext cx="2943366" cy="431304"/>
          </a:xfrm>
          <a:prstGeom prst="rect">
            <a:avLst/>
          </a:prstGeom>
        </p:spPr>
        <p:txBody>
          <a:bodyPr anchor="t" rtlCol="false" tIns="0" lIns="0" bIns="0" rIns="0">
            <a:spAutoFit/>
          </a:bodyPr>
          <a:lstStyle/>
          <a:p>
            <a:pPr algn="l">
              <a:lnSpc>
                <a:spcPts val="3034"/>
              </a:lnSpc>
            </a:pPr>
            <a:r>
              <a:rPr lang="en-US" sz="3161" spc="-161" b="true">
                <a:solidFill>
                  <a:srgbClr val="FFFFFF"/>
                </a:solidFill>
                <a:latin typeface="Poppins Semi-Bold"/>
                <a:ea typeface="Poppins Semi-Bold"/>
                <a:cs typeface="Poppins Semi-Bold"/>
                <a:sym typeface="Poppins Semi-Bold"/>
              </a:rPr>
              <a:t>ELECTRONAUTS</a:t>
            </a:r>
          </a:p>
        </p:txBody>
      </p:sp>
      <p:sp>
        <p:nvSpPr>
          <p:cNvPr name="TextBox 10" id="10"/>
          <p:cNvSpPr txBox="true"/>
          <p:nvPr/>
        </p:nvSpPr>
        <p:spPr>
          <a:xfrm rot="0">
            <a:off x="16411862" y="1165957"/>
            <a:ext cx="847438" cy="341725"/>
          </a:xfrm>
          <a:prstGeom prst="rect">
            <a:avLst/>
          </a:prstGeom>
        </p:spPr>
        <p:txBody>
          <a:bodyPr anchor="t" rtlCol="false" tIns="0" lIns="0" bIns="0" rIns="0">
            <a:spAutoFit/>
          </a:bodyPr>
          <a:lstStyle/>
          <a:p>
            <a:pPr algn="r">
              <a:lnSpc>
                <a:spcPts val="2363"/>
              </a:lnSpc>
            </a:pPr>
            <a:r>
              <a:rPr lang="en-US" b="true" sz="2461" spc="-125">
                <a:solidFill>
                  <a:srgbClr val="FFFFFF"/>
                </a:solidFill>
                <a:latin typeface="Poppins Semi-Bold"/>
                <a:ea typeface="Poppins Semi-Bold"/>
                <a:cs typeface="Poppins Semi-Bold"/>
                <a:sym typeface="Poppins Semi-Bold"/>
              </a:rPr>
              <a:t>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DAGrQ1omFnU</dc:identifier>
  <dcterms:modified xsi:type="dcterms:W3CDTF">2011-08-01T06:04:30Z</dcterms:modified>
  <cp:revision>1</cp:revision>
  <dc:title>Blue White Modern Illustrative Technology Presentation</dc:title>
</cp:coreProperties>
</file>